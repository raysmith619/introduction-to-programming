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13"/>
  </p:notesMasterIdLst>
  <p:handoutMasterIdLst>
    <p:handoutMasterId r:id="rId14"/>
  </p:handoutMasterIdLst>
  <p:sldIdLst>
    <p:sldId id="256" r:id="rId2"/>
    <p:sldId id="277" r:id="rId3"/>
    <p:sldId id="355" r:id="rId4"/>
    <p:sldId id="433" r:id="rId5"/>
    <p:sldId id="434" r:id="rId6"/>
    <p:sldId id="432" r:id="rId7"/>
    <p:sldId id="431" r:id="rId8"/>
    <p:sldId id="410" r:id="rId9"/>
    <p:sldId id="436" r:id="rId10"/>
    <p:sldId id="437" r:id="rId11"/>
    <p:sldId id="435" r:id="rId12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es Smith" initials="" lastIdx="0" clrIdx="0"/>
  <p:cmAuthor id="2" name="Charles Smith" initials="CS" lastIdx="4" clrIdx="1">
    <p:extLst>
      <p:ext uri="{19B8F6BF-5375-455C-9EA6-DF929625EA0E}">
        <p15:presenceInfo xmlns:p15="http://schemas.microsoft.com/office/powerpoint/2012/main" userId="1b3e2396226a364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6" autoAdjust="0"/>
    <p:restoredTop sz="86410" autoAdjust="0"/>
  </p:normalViewPr>
  <p:slideViewPr>
    <p:cSldViewPr snapToGrid="0">
      <p:cViewPr varScale="1">
        <p:scale>
          <a:sx n="107" d="100"/>
          <a:sy n="107" d="100"/>
        </p:scale>
        <p:origin x="76" y="136"/>
      </p:cViewPr>
      <p:guideLst/>
    </p:cSldViewPr>
  </p:slideViewPr>
  <p:outlineViewPr>
    <p:cViewPr>
      <p:scale>
        <a:sx n="33" d="100"/>
        <a:sy n="33" d="100"/>
      </p:scale>
      <p:origin x="0" y="-2363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992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C30C04-DA98-43A8-9179-8EFB5DC8AA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r>
              <a:rPr lang="en-US" dirty="0"/>
              <a:t>Introduction to Programming using Python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B426F-EE3F-4C9A-96FF-0138D3773D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DFEF0EA-DB21-4A86-A521-B130EF1BF0C5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F653D-AA42-4543-8859-17FE42335B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8ACFE-76DD-4178-A6EF-A2913508AE3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E28DB299-B29B-4052-B9CA-268EF89506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092935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r>
              <a:rPr lang="en-US" dirty="0"/>
              <a:t>Introduction to Programming using Python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13B8D86-AA08-48B2-BB7C-C1D4C1B081EB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BA791329-992B-4F83-8435-C33B0EC26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55191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430322D-EDB7-4226-9FD1-236D0A61058E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26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D9E48488-6E51-43E6-91BA-12E56408D6B2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933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Makeup:</a:t>
            </a:r>
          </a:p>
          <a:p>
            <a:pPr lvl="1"/>
            <a:r>
              <a:rPr lang="en-US" dirty="0"/>
              <a:t>One class: </a:t>
            </a:r>
            <a:r>
              <a:rPr lang="en-US" b="1" dirty="0"/>
              <a:t>visual learners</a:t>
            </a:r>
            <a:r>
              <a:rPr lang="en-US" dirty="0"/>
              <a:t>(greatly diminished sight but able to use magnification)</a:t>
            </a:r>
          </a:p>
          <a:p>
            <a:pPr lvl="1"/>
            <a:r>
              <a:rPr lang="en-US" dirty="0"/>
              <a:t>One class: </a:t>
            </a:r>
            <a:r>
              <a:rPr lang="en-US" b="1" dirty="0"/>
              <a:t>blind learners </a:t>
            </a:r>
            <a:r>
              <a:rPr lang="en-US" dirty="0"/>
              <a:t>(magnification not useful)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D3F2498-0397-49A9-BFAB-C5E7B7DF7647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443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7FFEAF9-65B0-4791-8D5E-C68E2A5ED042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87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F8485EB-5C6C-467A-8328-082E35E58895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237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6CE1AC1C-8C3F-4D74-9856-57CBBAE58C8C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144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3CE5CC0F-57BE-4E2D-B908-0E25E9F8598B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214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B7EAF1B0-E1EE-43FF-99F2-795FB7F1D997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087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E4B46209-2F19-4152-96C1-B4767A290086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341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8179FDC-7F4B-4BDD-A0F0-FDADA45A23AD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392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325CC47-05F8-466D-B4DC-522FFEF10CFC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311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5E50B-3549-474E-B2C2-90DF1C3C0337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965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DE843-3FBF-C28A-A8A1-26C5A155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5B0BF-F051-44FF-ABC3-0183C9D01D68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8F9ED7-87FD-E79A-1A0B-FF254561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9688D-BCC0-7855-63CD-D6150FC8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01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346B0-6177-4C39-B6D1-9F89989421AE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9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56338-AC8A-4EE1-B159-D61447FB289E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935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722F-3382-47F0-B5C7-76A8D9B3ACE6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65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B2AA3-9664-4288-9EC9-5A46C6B984E7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50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06003-210B-4261-98C2-4BA329BBCFDE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83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DC1B-98E9-4422-8FB4-5C1B65C0EA35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F8523-55A3-42ED-969A-B83631585097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52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7986-089E-4C09-A8AE-22FBF12E6789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1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B4B5C-60D0-4D5A-8B7D-D5FAEEFE8737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7042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71EC-2D62-41BB-9ABB-2BE9D0F716F0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468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1FB96-6A79-4D9F-A001-91FED28777D6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6231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C4A10-46CC-4CBF-B312-CA0A87C7FF8F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640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4F42F-6371-4F7B-87AA-F7017CE45CA5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015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C7D1-678A-4C09-A054-6A2B71CEB29F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5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8070B-93AA-47E8-A465-B32CD2DEAB1C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32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raysmith@alum.mit.ed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A52B-07F3-428A-AE74-138A34034A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My Path to Programming for the Blind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978A9-2CA9-49C2-9073-C0526E7E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18DC-C280-401B-B3E1-3AA0F9AF7A60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7784B-1224-4A1C-9D1F-2F39A761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A865C-3D2F-422B-BE43-A53DD0E6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raysmith@alum.mit.edu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31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6E00-835A-4B5B-AFDF-9AF87390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Brief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E49C-1AF0-40D7-BD12-D2153566B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Graduated MIT</a:t>
            </a:r>
          </a:p>
          <a:p>
            <a:r>
              <a:rPr lang="en-US" sz="3600" dirty="0"/>
              <a:t>Many years of programming </a:t>
            </a:r>
          </a:p>
          <a:p>
            <a:r>
              <a:rPr lang="en-US" sz="3600" dirty="0"/>
              <a:t>C, C++, Perl, Java, Python</a:t>
            </a:r>
          </a:p>
          <a:p>
            <a:r>
              <a:rPr lang="en-US" sz="3600" dirty="0"/>
              <a:t>NEW Areas - Games for young 3+ years</a:t>
            </a:r>
          </a:p>
          <a:p>
            <a:r>
              <a:rPr lang="en-US" sz="3600" dirty="0"/>
              <a:t>Interest in programming for the blind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6595F-9930-4D44-BB3E-70490058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7B81BCCA-919E-46E8-8061-989F164A7CCE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0A2BB-609F-4663-9624-CF5B6F7B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0CECB9-8420-4DCA-9BA9-5BE8C789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93780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Teaching 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082373"/>
            <a:ext cx="9078507" cy="395899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Perkins School for the Blind</a:t>
            </a:r>
          </a:p>
          <a:p>
            <a:r>
              <a:rPr lang="en-US" sz="3200" dirty="0"/>
              <a:t>Approaching two years with two courses</a:t>
            </a:r>
          </a:p>
          <a:p>
            <a:r>
              <a:rPr lang="en-US" sz="3200" dirty="0"/>
              <a:t>Course Structure</a:t>
            </a:r>
          </a:p>
          <a:p>
            <a:pPr lvl="1"/>
            <a:r>
              <a:rPr lang="en-US" sz="3000" dirty="0"/>
              <a:t> 8</a:t>
            </a:r>
            <a:r>
              <a:rPr lang="en-US" sz="3000" baseline="30000" dirty="0"/>
              <a:t>th</a:t>
            </a:r>
            <a:r>
              <a:rPr lang="en-US" sz="3000" dirty="0"/>
              <a:t> graders</a:t>
            </a:r>
          </a:p>
          <a:p>
            <a:pPr lvl="1"/>
            <a:r>
              <a:rPr lang="en-US" sz="3000" dirty="0"/>
              <a:t>One weekly 50 minute session</a:t>
            </a:r>
          </a:p>
          <a:p>
            <a:pPr lvl="1"/>
            <a:r>
              <a:rPr lang="en-US" sz="3000" dirty="0"/>
              <a:t>Remote: me, online via Zoom</a:t>
            </a:r>
          </a:p>
          <a:p>
            <a:pPr lvl="1"/>
            <a:r>
              <a:rPr lang="en-US" sz="3000" dirty="0"/>
              <a:t>Local: Primary educator plus two students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4A3FC35C-B470-465E-91B1-0CD065DEFBF0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>
                <a:hlinkClick r:id="rId3"/>
              </a:rPr>
              <a:t>raysmith@alum.mit.edu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48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teaching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082373"/>
            <a:ext cx="9078507" cy="3958990"/>
          </a:xfrm>
        </p:spPr>
        <p:txBody>
          <a:bodyPr>
            <a:normAutofit/>
          </a:bodyPr>
          <a:lstStyle/>
          <a:p>
            <a:r>
              <a:rPr lang="en-US" sz="3000" dirty="0"/>
              <a:t>Centers around a class project</a:t>
            </a:r>
          </a:p>
          <a:p>
            <a:pPr lvl="1"/>
            <a:r>
              <a:rPr lang="en-US" sz="2800" dirty="0"/>
              <a:t>Demonstrating:</a:t>
            </a:r>
          </a:p>
          <a:p>
            <a:pPr lvl="2"/>
            <a:r>
              <a:rPr lang="en-US" sz="2600" dirty="0"/>
              <a:t>Programming concepts</a:t>
            </a:r>
          </a:p>
          <a:p>
            <a:pPr lvl="2"/>
            <a:r>
              <a:rPr lang="en-US" sz="2600" dirty="0"/>
              <a:t>Python language parts</a:t>
            </a:r>
          </a:p>
          <a:p>
            <a:pPr lvl="1"/>
            <a:r>
              <a:rPr lang="en-US" sz="2800" dirty="0">
                <a:solidFill>
                  <a:schemeClr val="accent2"/>
                </a:solidFill>
              </a:rPr>
              <a:t>Twenty Questions </a:t>
            </a:r>
            <a:r>
              <a:rPr lang="en-US" sz="2800" dirty="0"/>
              <a:t>… </a:t>
            </a:r>
            <a:r>
              <a:rPr lang="en-US" sz="2800" dirty="0">
                <a:solidFill>
                  <a:srgbClr val="00B0F0"/>
                </a:solidFill>
              </a:rPr>
              <a:t>I'm Thinking of a number</a:t>
            </a:r>
            <a:r>
              <a:rPr lang="en-US" sz="2800" dirty="0"/>
              <a:t>…</a:t>
            </a:r>
          </a:p>
          <a:p>
            <a:pPr lvl="1"/>
            <a:r>
              <a:rPr lang="en-US" sz="2800" b="1" dirty="0"/>
              <a:t>Student</a:t>
            </a:r>
            <a:r>
              <a:rPr lang="en-US" sz="2800" dirty="0"/>
              <a:t> writes and runs program</a:t>
            </a:r>
          </a:p>
          <a:p>
            <a:r>
              <a:rPr lang="en-US" sz="3000" b="1" dirty="0"/>
              <a:t>Infrequently</a:t>
            </a:r>
            <a:r>
              <a:rPr lang="en-US" sz="3000" dirty="0"/>
              <a:t> I lecture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BA26108F-DBFB-4A91-AD88-A67AB146E432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>
                <a:hlinkClick r:id="rId3"/>
              </a:rPr>
              <a:t>raysmith@alum.mit.edu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04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Teaching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082373"/>
            <a:ext cx="9078507" cy="3958990"/>
          </a:xfrm>
        </p:spPr>
        <p:txBody>
          <a:bodyPr>
            <a:normAutofit/>
          </a:bodyPr>
          <a:lstStyle/>
          <a:p>
            <a:r>
              <a:rPr lang="en-US" sz="3000" dirty="0"/>
              <a:t>I direct one student (switches each class)</a:t>
            </a:r>
          </a:p>
          <a:p>
            <a:r>
              <a:rPr lang="en-US" sz="3000" dirty="0"/>
              <a:t>Student shares and controls  screen</a:t>
            </a:r>
          </a:p>
          <a:p>
            <a:r>
              <a:rPr lang="en-US" sz="3000" dirty="0"/>
              <a:t>Repeated:</a:t>
            </a:r>
          </a:p>
          <a:p>
            <a:pPr lvl="1"/>
            <a:r>
              <a:rPr lang="en-US" sz="2800" dirty="0"/>
              <a:t> I suggest a code fragment</a:t>
            </a:r>
          </a:p>
          <a:p>
            <a:pPr lvl="1"/>
            <a:r>
              <a:rPr lang="en-US" sz="2800" dirty="0"/>
              <a:t>Student codes the fragment</a:t>
            </a:r>
          </a:p>
          <a:p>
            <a:pPr lvl="1"/>
            <a:r>
              <a:rPr lang="en-US" sz="2800" dirty="0"/>
              <a:t>As appropriate, student runs program</a:t>
            </a:r>
          </a:p>
          <a:p>
            <a:pPr lvl="1"/>
            <a:r>
              <a:rPr lang="en-US" sz="2800" dirty="0"/>
              <a:t>We Discuss the outcome</a:t>
            </a:r>
          </a:p>
          <a:p>
            <a:endParaRPr lang="en-US" sz="3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CB12FE42-4322-4FB3-A18B-B1510EBBBEFB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>
                <a:hlinkClick r:id="rId3"/>
              </a:rPr>
              <a:t>raysmith@alum.mit.edu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32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Beginning – My Evening Course – Introduction to Programming…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082373"/>
            <a:ext cx="9078507" cy="3958990"/>
          </a:xfrm>
        </p:spPr>
        <p:txBody>
          <a:bodyPr/>
          <a:lstStyle/>
          <a:p>
            <a:r>
              <a:rPr lang="en-US" sz="4000" dirty="0"/>
              <a:t>Programming for non-programmers</a:t>
            </a:r>
          </a:p>
          <a:p>
            <a:r>
              <a:rPr lang="en-US" sz="4000" dirty="0"/>
              <a:t>Demonstrate concepts / methods</a:t>
            </a:r>
          </a:p>
          <a:p>
            <a:r>
              <a:rPr lang="en-US" sz="4000" dirty="0"/>
              <a:t>Energize new programmers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EE0173C9-21D4-4D4F-BC14-036E7C23260E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>
                <a:hlinkClick r:id="rId3"/>
              </a:rPr>
              <a:t>raysmith@alum.mit.edu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B97A9-C99B-4AA3-B223-455230B3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But… to Engage the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9CD65-FDE0-45AB-8C92-688A07CC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93477"/>
            <a:ext cx="9078507" cy="4447886"/>
          </a:xfrm>
        </p:spPr>
        <p:txBody>
          <a:bodyPr/>
          <a:lstStyle/>
          <a:p>
            <a:r>
              <a:rPr lang="en-US" sz="4000" dirty="0"/>
              <a:t>Programming is abstract…detailed</a:t>
            </a:r>
          </a:p>
          <a:p>
            <a:r>
              <a:rPr lang="en-US" sz="4000" dirty="0">
                <a:solidFill>
                  <a:schemeClr val="tx1"/>
                </a:solidFill>
              </a:rPr>
              <a:t>Keeping student energy up</a:t>
            </a:r>
          </a:p>
          <a:p>
            <a:pPr lvl="1"/>
            <a:r>
              <a:rPr lang="en-US" sz="3800" dirty="0">
                <a:solidFill>
                  <a:schemeClr val="tx1"/>
                </a:solidFill>
              </a:rPr>
              <a:t>People are visual, interactive</a:t>
            </a:r>
          </a:p>
          <a:p>
            <a:pPr lvl="2"/>
            <a:r>
              <a:rPr lang="en-US" sz="3600" dirty="0">
                <a:solidFill>
                  <a:schemeClr val="tx1"/>
                </a:solidFill>
              </a:rPr>
              <a:t>Use pictures</a:t>
            </a:r>
          </a:p>
          <a:p>
            <a:pPr lvl="2"/>
            <a:r>
              <a:rPr lang="en-US" sz="3600" dirty="0">
                <a:solidFill>
                  <a:schemeClr val="tx1"/>
                </a:solidFill>
              </a:rPr>
              <a:t>Students run programs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4DA-0813-483A-8A64-71924345DD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5C735889-204B-44F5-9C1E-D5DE54455206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3744-B960-4FDC-9100-33AFA22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AF28DD-11BC-43F5-9F29-84518C3B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>
                <a:hlinkClick r:id="rId3"/>
              </a:rPr>
              <a:t>raysmith@alum.mit.edu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09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A5E0-0A11-4B04-AE87-BCC201BE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Learn by </a:t>
            </a:r>
            <a:r>
              <a:rPr lang="en-US" sz="6600" b="1" dirty="0"/>
              <a:t>DOING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20D-DC17-4635-B45F-E3F0F86C6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4400" dirty="0"/>
              <a:t>Start with example programs</a:t>
            </a:r>
            <a:endParaRPr lang="en-US" sz="4400" dirty="0">
              <a:solidFill>
                <a:schemeClr val="accent2"/>
              </a:solidFill>
            </a:endParaRPr>
          </a:p>
          <a:p>
            <a:pPr lvl="1"/>
            <a:r>
              <a:rPr lang="en-US" sz="4400" dirty="0">
                <a:solidFill>
                  <a:schemeClr val="tx1"/>
                </a:solidFill>
              </a:rPr>
              <a:t>Run </a:t>
            </a:r>
            <a:r>
              <a:rPr lang="en-US" sz="4400" dirty="0">
                <a:solidFill>
                  <a:schemeClr val="accent2"/>
                </a:solidFill>
              </a:rPr>
              <a:t>unchanged</a:t>
            </a:r>
            <a:r>
              <a:rPr lang="en-US" sz="4400" dirty="0">
                <a:solidFill>
                  <a:schemeClr val="tx1"/>
                </a:solidFill>
              </a:rPr>
              <a:t> - see results</a:t>
            </a:r>
          </a:p>
          <a:p>
            <a:pPr lvl="1"/>
            <a:r>
              <a:rPr lang="en-US" sz="4400" dirty="0">
                <a:solidFill>
                  <a:schemeClr val="tx1"/>
                </a:solidFill>
              </a:rPr>
              <a:t>Make </a:t>
            </a:r>
            <a:r>
              <a:rPr lang="en-US" sz="4400" dirty="0">
                <a:solidFill>
                  <a:schemeClr val="accent2"/>
                </a:solidFill>
              </a:rPr>
              <a:t>small</a:t>
            </a:r>
            <a:r>
              <a:rPr lang="en-US" sz="4400" dirty="0">
                <a:solidFill>
                  <a:schemeClr val="tx1"/>
                </a:solidFill>
              </a:rPr>
              <a:t> changes</a:t>
            </a:r>
          </a:p>
          <a:p>
            <a:pPr lvl="1"/>
            <a:r>
              <a:rPr lang="en-US" sz="4400" dirty="0">
                <a:solidFill>
                  <a:schemeClr val="tx1"/>
                </a:solidFill>
              </a:rPr>
              <a:t>Run again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3BDC9-0814-4AA6-9895-50902B68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956FCE32-A050-47B2-AAC9-3B421244ECB7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EC4169-6935-4699-B53D-ED94C7AD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09FD-6FF8-43F9-9B99-DE4E9ED6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30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A5E0-0A11-4B04-AE87-BCC201BE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With Blindness…</a:t>
            </a: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20D-DC17-4635-B45F-E3F0F86C6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4400" dirty="0">
                <a:solidFill>
                  <a:schemeClr val="tx1"/>
                </a:solidFill>
              </a:rPr>
              <a:t>Hard to see program output</a:t>
            </a:r>
          </a:p>
          <a:p>
            <a:pPr lvl="0"/>
            <a:r>
              <a:rPr lang="en-US" sz="4400" dirty="0">
                <a:solidFill>
                  <a:schemeClr val="tx1"/>
                </a:solidFill>
              </a:rPr>
              <a:t>Pictures – even harder</a:t>
            </a:r>
          </a:p>
          <a:p>
            <a:pPr lvl="0"/>
            <a:r>
              <a:rPr lang="en-US" sz="4400" dirty="0">
                <a:solidFill>
                  <a:schemeClr val="tx1"/>
                </a:solidFill>
              </a:rPr>
              <a:t>Making pictures in Braille?</a:t>
            </a:r>
          </a:p>
          <a:p>
            <a:pPr lvl="0"/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3BDC9-0814-4AA6-9895-50902B68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86679627-336C-45D6-A761-571CA1F212B4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EC4169-6935-4699-B53D-ED94C7AD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09FD-6FF8-43F9-9B99-DE4E9ED6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039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A5E0-0A11-4B04-AE87-BCC201BE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We're Learning…</a:t>
            </a: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20D-DC17-4635-B45F-E3F0F86C6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4400" dirty="0">
                <a:solidFill>
                  <a:schemeClr val="tx1"/>
                </a:solidFill>
              </a:rPr>
              <a:t>Students environments have challenges</a:t>
            </a:r>
          </a:p>
          <a:p>
            <a:pPr lvl="0"/>
            <a:r>
              <a:rPr lang="en-US" sz="4400" dirty="0">
                <a:solidFill>
                  <a:schemeClr val="tx1"/>
                </a:solidFill>
              </a:rPr>
              <a:t>Improve on Braille?</a:t>
            </a:r>
          </a:p>
          <a:p>
            <a:pPr lvl="0"/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3BDC9-0814-4AA6-9895-50902B68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E66559FB-E6E5-4EAA-8266-150AB42CB547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EC4169-6935-4699-B53D-ED94C7AD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09FD-6FF8-43F9-9B99-DE4E9ED6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165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A5E0-0A11-4B04-AE87-BCC201BE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Graphic Example</a:t>
            </a:r>
            <a:endParaRPr lang="en-US" sz="6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20D-DC17-4635-B45F-E3F0F86C6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4400" dirty="0"/>
              <a:t>Draw a square… 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3BDC9-0814-4AA6-9895-50902B68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ECD8DF4C-F309-4990-8B1B-6340B22E38D4}" type="datetime1">
              <a:rPr lang="en-US" smtClean="0"/>
              <a:t>1/14/2025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EC4169-6935-4699-B53D-ED94C7AD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09FD-6FF8-43F9-9B99-DE4E9ED6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7196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59340</TotalTime>
  <Words>526</Words>
  <Application>Microsoft Office PowerPoint</Application>
  <PresentationFormat>Widescreen</PresentationFormat>
  <Paragraphs>135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</vt:lpstr>
      <vt:lpstr>My Path to Programming for the Blind </vt:lpstr>
      <vt:lpstr>Brief History</vt:lpstr>
      <vt:lpstr>Recent Teaching  History</vt:lpstr>
      <vt:lpstr>Primary teaching mode</vt:lpstr>
      <vt:lpstr>Teaching scenario</vt:lpstr>
      <vt:lpstr>The Beginning – My Evening Course – Introduction to Programming…</vt:lpstr>
      <vt:lpstr>But… to Engage the Students</vt:lpstr>
      <vt:lpstr>Learn by DOING</vt:lpstr>
      <vt:lpstr>With Blindness…</vt:lpstr>
      <vt:lpstr>We're Learning…</vt:lpstr>
      <vt:lpstr>Graphic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Introduction to Proramming Using Python</dc:title>
  <dc:creator>Charles Smith</dc:creator>
  <cp:lastModifiedBy>Charles Smith</cp:lastModifiedBy>
  <cp:revision>388</cp:revision>
  <cp:lastPrinted>2022-07-02T21:33:43Z</cp:lastPrinted>
  <dcterms:created xsi:type="dcterms:W3CDTF">2018-08-14T15:38:09Z</dcterms:created>
  <dcterms:modified xsi:type="dcterms:W3CDTF">2025-01-14T22:38:23Z</dcterms:modified>
</cp:coreProperties>
</file>