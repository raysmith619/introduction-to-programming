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4"/>
  </p:notesMasterIdLst>
  <p:sldIdLst>
    <p:sldId id="430" r:id="rId2"/>
    <p:sldId id="431" r:id="rId3"/>
    <p:sldId id="435" r:id="rId4"/>
    <p:sldId id="436" r:id="rId5"/>
    <p:sldId id="445" r:id="rId6"/>
    <p:sldId id="433" r:id="rId7"/>
    <p:sldId id="434" r:id="rId8"/>
    <p:sldId id="446" r:id="rId9"/>
    <p:sldId id="447" r:id="rId10"/>
    <p:sldId id="449" r:id="rId11"/>
    <p:sldId id="448" r:id="rId12"/>
    <p:sldId id="441" r:id="rId13"/>
  </p:sldIdLst>
  <p:sldSz cx="12192000" cy="6858000"/>
  <p:notesSz cx="7102475" cy="9388475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11" autoAdjust="0"/>
    <p:restoredTop sz="94660"/>
  </p:normalViewPr>
  <p:slideViewPr>
    <p:cSldViewPr snapToGrid="0">
      <p:cViewPr varScale="1">
        <p:scale>
          <a:sx n="57" d="100"/>
          <a:sy n="57" d="100"/>
        </p:scale>
        <p:origin x="72" y="6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739" cy="471054"/>
          </a:xfrm>
          <a:prstGeom prst="rect">
            <a:avLst/>
          </a:prstGeom>
        </p:spPr>
        <p:txBody>
          <a:bodyPr vert="horz" lIns="94229" tIns="47114" rIns="94229" bIns="47114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092" y="0"/>
            <a:ext cx="3077739" cy="471054"/>
          </a:xfrm>
          <a:prstGeom prst="rect">
            <a:avLst/>
          </a:prstGeom>
        </p:spPr>
        <p:txBody>
          <a:bodyPr vert="horz" lIns="94229" tIns="47114" rIns="94229" bIns="47114" rtlCol="0"/>
          <a:lstStyle>
            <a:lvl1pPr algn="r">
              <a:defRPr sz="1200"/>
            </a:lvl1pPr>
          </a:lstStyle>
          <a:p>
            <a:fld id="{36BBF56C-D76A-495C-8EAB-6BEAC37482CF}" type="datetimeFigureOut">
              <a:rPr lang="en-US" smtClean="0"/>
              <a:t>5/18/2026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35013" y="1173163"/>
            <a:ext cx="5632450" cy="31686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229" tIns="47114" rIns="94229" bIns="47114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248" y="4518204"/>
            <a:ext cx="5681980" cy="3696712"/>
          </a:xfrm>
          <a:prstGeom prst="rect">
            <a:avLst/>
          </a:prstGeom>
        </p:spPr>
        <p:txBody>
          <a:bodyPr vert="horz" lIns="94229" tIns="47114" rIns="94229" bIns="47114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917422"/>
            <a:ext cx="3077739" cy="471053"/>
          </a:xfrm>
          <a:prstGeom prst="rect">
            <a:avLst/>
          </a:prstGeom>
        </p:spPr>
        <p:txBody>
          <a:bodyPr vert="horz" lIns="94229" tIns="47114" rIns="94229" bIns="47114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092" y="8917422"/>
            <a:ext cx="3077739" cy="471053"/>
          </a:xfrm>
          <a:prstGeom prst="rect">
            <a:avLst/>
          </a:prstGeom>
        </p:spPr>
        <p:txBody>
          <a:bodyPr vert="horz" lIns="94229" tIns="47114" rIns="94229" bIns="47114" rtlCol="0" anchor="b"/>
          <a:lstStyle>
            <a:lvl1pPr algn="r">
              <a:defRPr sz="1200"/>
            </a:lvl1pPr>
          </a:lstStyle>
          <a:p>
            <a:fld id="{BE8359A1-9BAD-4CA6-B369-8D36A40EF9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96671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dirty="0"/>
              <a:t>Introduction to Programming using Python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A596092B-28C7-44D1-B902-5437B333DFB7}" type="datetime1">
              <a:rPr lang="en-US" smtClean="0"/>
              <a:t>5/18/2026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raysmith@alum.mit.edu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A791329-992B-4F83-8435-C33B0EC26DB3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07094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 defTabSz="942289">
              <a:defRPr/>
            </a:pP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Introduction to Programming using Python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 defTabSz="942289">
              <a:defRPr/>
            </a:pPr>
            <a:fld id="{A596092B-28C7-44D1-B902-5437B333DFB7}" type="datetime1">
              <a:rPr lang="en-US">
                <a:solidFill>
                  <a:prstClr val="black"/>
                </a:solidFill>
                <a:latin typeface="Calibri" panose="020F0502020204030204"/>
              </a:rPr>
              <a:pPr defTabSz="942289">
                <a:defRPr/>
              </a:pPr>
              <a:t>5/18/2026</a:t>
            </a:fld>
            <a:endParaRPr lang="en-US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defTabSz="942289">
              <a:defRPr/>
            </a:pP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raysmith@alum.mit.edu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defTabSz="942289">
              <a:defRPr/>
            </a:pPr>
            <a:fld id="{BA791329-992B-4F83-8435-C33B0EC26DB3}" type="slidenum">
              <a:rPr lang="en-US">
                <a:solidFill>
                  <a:prstClr val="black"/>
                </a:solidFill>
                <a:latin typeface="Calibri" panose="020F0502020204030204"/>
              </a:rPr>
              <a:pPr defTabSz="942289">
                <a:defRPr/>
              </a:pPr>
              <a:t>12</a:t>
            </a:fld>
            <a:endParaRPr lang="en-US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2980087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dirty="0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dirty="0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dirty="0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dirty="0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dirty="0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dirty="0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dirty="0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659E4-79D1-48B9-9D6D-0647272177DB}" type="datetimeFigureOut">
              <a:rPr lang="en-US" smtClean="0"/>
              <a:t>5/18/2026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89EFC7-EF8A-491C-B63F-2C34069C3A7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02672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659E4-79D1-48B9-9D6D-0647272177DB}" type="datetimeFigureOut">
              <a:rPr lang="en-US" smtClean="0"/>
              <a:t>5/18/2026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89EFC7-EF8A-491C-B63F-2C34069C3A7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77283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659E4-79D1-48B9-9D6D-0647272177DB}" type="datetimeFigureOut">
              <a:rPr lang="en-US" smtClean="0"/>
              <a:t>5/18/2026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89EFC7-EF8A-491C-B63F-2C34069C3A7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94130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659E4-79D1-48B9-9D6D-0647272177DB}" type="datetimeFigureOut">
              <a:rPr lang="en-US" smtClean="0"/>
              <a:t>5/18/2026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89EFC7-EF8A-491C-B63F-2C34069C3A7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07342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659E4-79D1-48B9-9D6D-0647272177DB}" type="datetimeFigureOut">
              <a:rPr lang="en-US" smtClean="0"/>
              <a:t>5/18/2026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89EFC7-EF8A-491C-B63F-2C34069C3A7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13145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659E4-79D1-48B9-9D6D-0647272177DB}" type="datetimeFigureOut">
              <a:rPr lang="en-US" smtClean="0"/>
              <a:t>5/18/2026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89EFC7-EF8A-491C-B63F-2C34069C3A7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11216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659E4-79D1-48B9-9D6D-0647272177DB}" type="datetimeFigureOut">
              <a:rPr lang="en-US" smtClean="0"/>
              <a:t>5/18/2026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89EFC7-EF8A-491C-B63F-2C34069C3A7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81111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659E4-79D1-48B9-9D6D-0647272177DB}" type="datetimeFigureOut">
              <a:rPr lang="en-US" smtClean="0"/>
              <a:t>5/18/2026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89EFC7-EF8A-491C-B63F-2C34069C3A7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2824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659E4-79D1-48B9-9D6D-0647272177DB}" type="datetimeFigureOut">
              <a:rPr lang="en-US" smtClean="0"/>
              <a:t>5/18/2026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89EFC7-EF8A-491C-B63F-2C34069C3A7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98498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659E4-79D1-48B9-9D6D-0647272177DB}" type="datetimeFigureOut">
              <a:rPr lang="en-US" smtClean="0"/>
              <a:t>5/18/2026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89EFC7-EF8A-491C-B63F-2C34069C3A7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25117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659E4-79D1-48B9-9D6D-0647272177DB}" type="datetimeFigureOut">
              <a:rPr lang="en-US" smtClean="0"/>
              <a:t>5/18/2026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89EFC7-EF8A-491C-B63F-2C34069C3A7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371824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659E4-79D1-48B9-9D6D-0647272177DB}" type="datetimeFigureOut">
              <a:rPr lang="en-US" smtClean="0"/>
              <a:t>5/18/2026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89EFC7-EF8A-491C-B63F-2C34069C3A7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59248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659E4-79D1-48B9-9D6D-0647272177DB}" type="datetimeFigureOut">
              <a:rPr lang="en-US" smtClean="0"/>
              <a:t>5/18/2026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89EFC7-EF8A-491C-B63F-2C34069C3A7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471575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659E4-79D1-48B9-9D6D-0647272177DB}" type="datetimeFigureOut">
              <a:rPr lang="en-US" smtClean="0"/>
              <a:t>5/18/2026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89EFC7-EF8A-491C-B63F-2C34069C3A7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101088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659E4-79D1-48B9-9D6D-0647272177DB}" type="datetimeFigureOut">
              <a:rPr lang="en-US" smtClean="0"/>
              <a:t>5/18/2026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89EFC7-EF8A-491C-B63F-2C34069C3A7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555328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659E4-79D1-48B9-9D6D-0647272177DB}" type="datetimeFigureOut">
              <a:rPr lang="en-US" smtClean="0"/>
              <a:t>5/18/2026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89EFC7-EF8A-491C-B63F-2C34069C3A7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11186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dirty="0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dirty="0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dirty="0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dirty="0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dirty="0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dirty="0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dirty="0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dirty="0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7659E4-79D1-48B9-9D6D-0647272177DB}" type="datetimeFigureOut">
              <a:rPr lang="en-US" smtClean="0"/>
              <a:t>5/18/2026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B889EFC7-EF8A-491C-B63F-2C34069C3A7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65938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90694-AA7F-451B-A875-1D23D1FDBA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5892" y="1963271"/>
            <a:ext cx="8596668" cy="2080544"/>
          </a:xfrm>
        </p:spPr>
        <p:txBody>
          <a:bodyPr>
            <a:normAutofit fontScale="90000"/>
          </a:bodyPr>
          <a:lstStyle/>
          <a:p>
            <a:pPr algn="ctr"/>
            <a:r>
              <a:rPr lang="en-US" sz="6600" dirty="0">
                <a:solidFill>
                  <a:srgbClr val="00B050"/>
                </a:solidFill>
              </a:rPr>
              <a:t>Graphics Braille Implementation Overview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23EE2F-E3E9-437B-AFAE-1E0C5C94A5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19916-CD40-456D-ABE3-55F8822671F7}" type="datetime1">
              <a:rPr lang="en-US" smtClean="0"/>
              <a:t>5/18/2026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4D04EE-5AD0-4A57-A42E-AE62E411AC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raysmith@alum.mit.edu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11C448-36A8-43E6-A891-6E42F22D1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12238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738398-DAA7-2BCE-76F4-AF36E34176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sz="5400" dirty="0">
                <a:solidFill>
                  <a:srgbClr val="00B050"/>
                </a:solidFill>
              </a:rPr>
              <a:t>The Goals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360948-50A1-2DC8-8408-53BDDAF2B3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113" y="1586753"/>
            <a:ext cx="8596668" cy="4345071"/>
          </a:xfrm>
        </p:spPr>
        <p:txBody>
          <a:bodyPr>
            <a:normAutofit/>
          </a:bodyPr>
          <a:lstStyle/>
          <a:p>
            <a:pPr lvl="1"/>
            <a:r>
              <a:rPr lang="en-US" sz="3600" dirty="0">
                <a:solidFill>
                  <a:srgbClr val="00B050"/>
                </a:solidFill>
              </a:rPr>
              <a:t>S</a:t>
            </a:r>
            <a:r>
              <a:rPr lang="en-US" sz="3600" i="1" dirty="0">
                <a:solidFill>
                  <a:srgbClr val="00B050"/>
                </a:solidFill>
              </a:rPr>
              <a:t>imple</a:t>
            </a:r>
            <a:r>
              <a:rPr lang="en-US" sz="3600" dirty="0">
                <a:solidFill>
                  <a:srgbClr val="00B050"/>
                </a:solidFill>
              </a:rPr>
              <a:t> Graphics</a:t>
            </a:r>
          </a:p>
          <a:p>
            <a:pPr lvl="1"/>
            <a:r>
              <a:rPr lang="en-US" sz="3600" dirty="0">
                <a:solidFill>
                  <a:srgbClr val="00B050"/>
                </a:solidFill>
              </a:rPr>
              <a:t>Braille rendition</a:t>
            </a:r>
          </a:p>
          <a:p>
            <a:pPr lvl="1"/>
            <a:r>
              <a:rPr lang="en-US" sz="3600" dirty="0">
                <a:solidFill>
                  <a:srgbClr val="00B050"/>
                </a:solidFill>
              </a:rPr>
              <a:t>Picture sent to the printer</a:t>
            </a:r>
          </a:p>
          <a:p>
            <a:pPr lvl="1"/>
            <a:r>
              <a:rPr lang="en-US" sz="3600" dirty="0">
                <a:solidFill>
                  <a:srgbClr val="00B050"/>
                </a:solidFill>
              </a:rPr>
              <a:t>Coarse – 40 characters by 25 lines</a:t>
            </a:r>
          </a:p>
          <a:p>
            <a:pPr lvl="1"/>
            <a:r>
              <a:rPr lang="en-US" sz="3600" dirty="0">
                <a:solidFill>
                  <a:srgbClr val="00B050"/>
                </a:solidFill>
              </a:rPr>
              <a:t>One color letter per square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DCC79F-3336-222D-207D-DDBE9A5864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19916-CD40-456D-ABE3-55F8822671F7}" type="datetime1">
              <a:rPr lang="en-US" smtClean="0"/>
              <a:t>5/18/2026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9CCD2F-A4CE-60DA-E7BA-37B3D06C1A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raysmith@alum.mit.edu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E7395C-C96B-C82A-58E2-49E4B31B73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2</a:t>
            </a:fld>
            <a:endParaRPr lang="en-US" dirty="0"/>
          </a:p>
        </p:txBody>
      </p:sp>
      <p:pic>
        <p:nvPicPr>
          <p:cNvPr id="1025" name="Picture 1" descr="2">
            <a:extLst>
              <a:ext uri="{FF2B5EF4-FFF2-40B4-BE49-F238E27FC236}">
                <a16:creationId xmlns:a16="http://schemas.microsoft.com/office/drawing/2014/main" id="{E655AFAE-90EF-81F0-845D-A0C543B6A4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3350" cy="219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74796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738398-DAA7-2BCE-76F4-AF36E34176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942906"/>
          </a:xfrm>
        </p:spPr>
        <p:txBody>
          <a:bodyPr/>
          <a:lstStyle/>
          <a:p>
            <a:pPr algn="ctr"/>
            <a:r>
              <a:rPr lang="en-US" sz="3600" dirty="0">
                <a:solidFill>
                  <a:srgbClr val="00B050"/>
                </a:solidFill>
              </a:rPr>
              <a:t>First Implementation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360948-50A1-2DC8-8408-53BDDAF2B3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113" y="2051051"/>
            <a:ext cx="8596668" cy="3880773"/>
          </a:xfrm>
        </p:spPr>
        <p:txBody>
          <a:bodyPr>
            <a:normAutofit/>
          </a:bodyPr>
          <a:lstStyle/>
          <a:p>
            <a:pPr lvl="1"/>
            <a:r>
              <a:rPr lang="en-US" sz="4000" dirty="0">
                <a:solidFill>
                  <a:srgbClr val="00B050"/>
                </a:solidFill>
              </a:rPr>
              <a:t>Shadow each turtle display</a:t>
            </a:r>
          </a:p>
          <a:p>
            <a:pPr lvl="1"/>
            <a:r>
              <a:rPr lang="en-US" sz="4000" dirty="0">
                <a:solidFill>
                  <a:srgbClr val="00B050"/>
                </a:solidFill>
              </a:rPr>
              <a:t> Create sample points for each graphic - </a:t>
            </a:r>
            <a:r>
              <a:rPr lang="en-US" sz="3600" dirty="0">
                <a:solidFill>
                  <a:srgbClr val="00B050"/>
                </a:solidFill>
              </a:rPr>
              <a:t>line, triangle, …</a:t>
            </a:r>
          </a:p>
          <a:p>
            <a:pPr lvl="1"/>
            <a:r>
              <a:rPr lang="en-US" sz="4000" dirty="0">
                <a:solidFill>
                  <a:srgbClr val="00B050"/>
                </a:solidFill>
              </a:rPr>
              <a:t>Display from sample points</a:t>
            </a:r>
          </a:p>
          <a:p>
            <a:pPr lvl="1"/>
            <a:endParaRPr lang="en-US" sz="3000" dirty="0">
              <a:solidFill>
                <a:schemeClr val="accent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DCC79F-3336-222D-207D-DDBE9A5864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19916-CD40-456D-ABE3-55F8822671F7}" type="datetime1">
              <a:rPr lang="en-US" smtClean="0"/>
              <a:t>5/18/2026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9CCD2F-A4CE-60DA-E7BA-37B3D06C1A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raysmith@alum.mit.edu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E7395C-C96B-C82A-58E2-49E4B31B73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3</a:t>
            </a:fld>
            <a:endParaRPr lang="en-US" dirty="0"/>
          </a:p>
        </p:txBody>
      </p:sp>
      <p:pic>
        <p:nvPicPr>
          <p:cNvPr id="1025" name="Picture 1" descr="2">
            <a:extLst>
              <a:ext uri="{FF2B5EF4-FFF2-40B4-BE49-F238E27FC236}">
                <a16:creationId xmlns:a16="http://schemas.microsoft.com/office/drawing/2014/main" id="{E655AFAE-90EF-81F0-845D-A0C543B6A4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3350" cy="219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447339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738398-DAA7-2BCE-76F4-AF36E34176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600" dirty="0">
                <a:solidFill>
                  <a:srgbClr val="00B050"/>
                </a:solidFill>
              </a:rPr>
              <a:t>First Implementation continued…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360948-50A1-2DC8-8408-53BDDAF2B3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113" y="2051051"/>
            <a:ext cx="8596668" cy="3880773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r>
              <a:rPr lang="en-US" sz="3600" dirty="0">
                <a:solidFill>
                  <a:srgbClr val="00B050"/>
                </a:solidFill>
              </a:rPr>
              <a:t>Shadow function – e.g., add_line()</a:t>
            </a:r>
          </a:p>
          <a:p>
            <a:pPr lvl="2"/>
            <a:r>
              <a:rPr lang="en-US" sz="3600" dirty="0">
                <a:solidFill>
                  <a:srgbClr val="00B050"/>
                </a:solidFill>
              </a:rPr>
              <a:t>Update shadow state - e.g., color</a:t>
            </a:r>
          </a:p>
          <a:p>
            <a:pPr lvl="2"/>
            <a:r>
              <a:rPr lang="en-US" sz="3600" dirty="0">
                <a:solidFill>
                  <a:srgbClr val="00B050"/>
                </a:solidFill>
              </a:rPr>
              <a:t>Create sample points at a higher resolution than display grid</a:t>
            </a:r>
          </a:p>
          <a:p>
            <a:pPr lvl="2"/>
            <a:r>
              <a:rPr lang="en-US" sz="3600" dirty="0">
                <a:solidFill>
                  <a:srgbClr val="00B050"/>
                </a:solidFill>
              </a:rPr>
              <a:t>Add new display cell for each new point</a:t>
            </a:r>
          </a:p>
          <a:p>
            <a:pPr lvl="1"/>
            <a:endParaRPr lang="en-US" sz="3000" dirty="0">
              <a:solidFill>
                <a:schemeClr val="accent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DCC79F-3336-222D-207D-DDBE9A5864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19916-CD40-456D-ABE3-55F8822671F7}" type="datetime1">
              <a:rPr lang="en-US" smtClean="0"/>
              <a:t>5/18/2026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9CCD2F-A4CE-60DA-E7BA-37B3D06C1A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raysmith@alum.mit.edu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E7395C-C96B-C82A-58E2-49E4B31B73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4</a:t>
            </a:fld>
            <a:endParaRPr lang="en-US" dirty="0"/>
          </a:p>
        </p:txBody>
      </p:sp>
      <p:pic>
        <p:nvPicPr>
          <p:cNvPr id="1025" name="Picture 1" descr="2">
            <a:extLst>
              <a:ext uri="{FF2B5EF4-FFF2-40B4-BE49-F238E27FC236}">
                <a16:creationId xmlns:a16="http://schemas.microsoft.com/office/drawing/2014/main" id="{E655AFAE-90EF-81F0-845D-A0C543B6A4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3350" cy="219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285878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F9CB0D-21D1-6D40-0E3D-4303915738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A2906B-ACBF-17DF-CD30-26C14F79E5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942906"/>
          </a:xfrm>
        </p:spPr>
        <p:txBody>
          <a:bodyPr/>
          <a:lstStyle/>
          <a:p>
            <a:pPr algn="ctr"/>
            <a:r>
              <a:rPr lang="en-US" sz="3600" dirty="0">
                <a:solidFill>
                  <a:srgbClr val="00B050"/>
                </a:solidFill>
              </a:rPr>
              <a:t>A Better Idea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C15821-14CD-7D87-98E7-72C34F13DC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112" y="2051051"/>
            <a:ext cx="9146337" cy="3880773"/>
          </a:xfrm>
        </p:spPr>
        <p:txBody>
          <a:bodyPr>
            <a:normAutofit/>
          </a:bodyPr>
          <a:lstStyle/>
          <a:p>
            <a:pPr lvl="1"/>
            <a:r>
              <a:rPr lang="en-US" sz="3600" dirty="0">
                <a:solidFill>
                  <a:srgbClr val="00B050"/>
                </a:solidFill>
              </a:rPr>
              <a:t>Use turtle’s tkinter canvas</a:t>
            </a:r>
          </a:p>
          <a:p>
            <a:pPr lvl="1"/>
            <a:r>
              <a:rPr lang="en-US" sz="3600" dirty="0">
                <a:solidFill>
                  <a:srgbClr val="00B050"/>
                </a:solidFill>
              </a:rPr>
              <a:t>For each display region/square</a:t>
            </a:r>
          </a:p>
          <a:p>
            <a:pPr lvl="2"/>
            <a:r>
              <a:rPr lang="en-US" sz="3400" dirty="0">
                <a:solidFill>
                  <a:srgbClr val="00B050"/>
                </a:solidFill>
              </a:rPr>
              <a:t>Find canvas item(s)</a:t>
            </a:r>
          </a:p>
          <a:p>
            <a:pPr marL="1371600" lvl="3" indent="0">
              <a:buNone/>
            </a:pPr>
            <a:r>
              <a:rPr lang="en-US" sz="34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tk.Canvas</a:t>
            </a:r>
            <a:r>
              <a:rPr lang="en-US" sz="3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.find_overlapping()</a:t>
            </a:r>
          </a:p>
          <a:p>
            <a:pPr lvl="2"/>
            <a:r>
              <a:rPr lang="en-US" sz="3400" dirty="0">
                <a:solidFill>
                  <a:srgbClr val="00B050"/>
                </a:solidFill>
              </a:rPr>
              <a:t>Use region’s top item’s color</a:t>
            </a:r>
          </a:p>
          <a:p>
            <a:pPr lvl="1"/>
            <a:endParaRPr lang="en-US" sz="3000" dirty="0">
              <a:solidFill>
                <a:schemeClr val="accent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731836-53D4-0AD9-8AC3-17AEE42A3A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19916-CD40-456D-ABE3-55F8822671F7}" type="datetime1">
              <a:rPr lang="en-US" smtClean="0"/>
              <a:t>5/18/2026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C2BE33-D376-40DC-A640-77815DA9E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raysmith@alum.mit.edu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98CEFF-CD53-D614-BA96-9ADDF39A5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5</a:t>
            </a:fld>
            <a:endParaRPr lang="en-US" dirty="0"/>
          </a:p>
        </p:txBody>
      </p:sp>
      <p:pic>
        <p:nvPicPr>
          <p:cNvPr id="1025" name="Picture 1" descr="2">
            <a:extLst>
              <a:ext uri="{FF2B5EF4-FFF2-40B4-BE49-F238E27FC236}">
                <a16:creationId xmlns:a16="http://schemas.microsoft.com/office/drawing/2014/main" id="{7708B59C-B1D0-F309-57D7-9D47A84DE6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3350" cy="219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687603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738398-DAA7-2BCE-76F4-AF36E34176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solidFill>
                  <a:srgbClr val="00B050"/>
                </a:solidFill>
              </a:rPr>
              <a:t>Implementation continued…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360948-50A1-2DC8-8408-53BDDAF2B3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113" y="2051051"/>
            <a:ext cx="8596668" cy="3880773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rgbClr val="00B050"/>
                </a:solidFill>
              </a:rPr>
              <a:t>turtle function </a:t>
            </a:r>
            <a:r>
              <a:rPr lang="en-US" sz="3200" b="1" dirty="0">
                <a:solidFill>
                  <a:srgbClr val="00B050"/>
                </a:solidFill>
              </a:rPr>
              <a:t>done</a:t>
            </a:r>
          </a:p>
          <a:p>
            <a:pPr lvl="1"/>
            <a:r>
              <a:rPr lang="en-US" sz="2800" dirty="0">
                <a:solidFill>
                  <a:srgbClr val="00B050"/>
                </a:solidFill>
              </a:rPr>
              <a:t>Braille print</a:t>
            </a:r>
          </a:p>
          <a:p>
            <a:pPr lvl="2"/>
            <a:r>
              <a:rPr lang="en-US" sz="2800" dirty="0">
                <a:solidFill>
                  <a:srgbClr val="00B050"/>
                </a:solidFill>
              </a:rPr>
              <a:t>Text picture from display cells</a:t>
            </a:r>
          </a:p>
          <a:p>
            <a:pPr lvl="1"/>
            <a:r>
              <a:rPr lang="en-US" sz="3200" dirty="0">
                <a:solidFill>
                  <a:srgbClr val="00B050"/>
                </a:solidFill>
              </a:rPr>
              <a:t>Braille window</a:t>
            </a:r>
          </a:p>
          <a:p>
            <a:pPr lvl="2"/>
            <a:r>
              <a:rPr lang="en-US" sz="2800" dirty="0">
                <a:solidFill>
                  <a:srgbClr val="00B050"/>
                </a:solidFill>
              </a:rPr>
              <a:t>Create Window</a:t>
            </a:r>
          </a:p>
          <a:p>
            <a:pPr lvl="2"/>
            <a:r>
              <a:rPr lang="en-US" sz="2800" dirty="0">
                <a:solidFill>
                  <a:srgbClr val="00B050"/>
                </a:solidFill>
              </a:rPr>
              <a:t>Populate with Braille Cells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DCC79F-3336-222D-207D-DDBE9A5864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19916-CD40-456D-ABE3-55F8822671F7}" type="datetime1">
              <a:rPr lang="en-US" smtClean="0"/>
              <a:t>5/18/2026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9CCD2F-A4CE-60DA-E7BA-37B3D06C1A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raysmith@alum.mit.edu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E7395C-C96B-C82A-58E2-49E4B31B73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6</a:t>
            </a:fld>
            <a:endParaRPr lang="en-US" dirty="0"/>
          </a:p>
        </p:txBody>
      </p:sp>
      <p:pic>
        <p:nvPicPr>
          <p:cNvPr id="1025" name="Picture 1" descr="2">
            <a:extLst>
              <a:ext uri="{FF2B5EF4-FFF2-40B4-BE49-F238E27FC236}">
                <a16:creationId xmlns:a16="http://schemas.microsoft.com/office/drawing/2014/main" id="{E655AFAE-90EF-81F0-845D-A0C543B6A4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3350" cy="219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023132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738398-DAA7-2BCE-76F4-AF36E34176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solidFill>
                  <a:srgbClr val="00B050"/>
                </a:solidFill>
              </a:rPr>
              <a:t>Braille Display Window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360948-50A1-2DC8-8408-53BDDAF2B3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113" y="2051051"/>
            <a:ext cx="8596668" cy="3880773"/>
          </a:xfrm>
        </p:spPr>
        <p:txBody>
          <a:bodyPr>
            <a:normAutofit lnSpcReduction="10000"/>
          </a:bodyPr>
          <a:lstStyle/>
          <a:p>
            <a:r>
              <a:rPr lang="en-US" sz="3600" dirty="0">
                <a:solidFill>
                  <a:srgbClr val="00B050"/>
                </a:solidFill>
              </a:rPr>
              <a:t>Initially just a diagnostic aid</a:t>
            </a:r>
          </a:p>
          <a:p>
            <a:r>
              <a:rPr lang="en-US" sz="3600" dirty="0">
                <a:solidFill>
                  <a:srgbClr val="00B050"/>
                </a:solidFill>
              </a:rPr>
              <a:t>Audio – limited but fast feedback</a:t>
            </a:r>
          </a:p>
          <a:p>
            <a:r>
              <a:rPr lang="en-US" sz="3600" dirty="0">
                <a:solidFill>
                  <a:srgbClr val="00B050"/>
                </a:solidFill>
              </a:rPr>
              <a:t>Keyboard + Mouse Navigation</a:t>
            </a:r>
          </a:p>
          <a:p>
            <a:endParaRPr lang="en-US" sz="3600" dirty="0">
              <a:solidFill>
                <a:srgbClr val="00B050"/>
              </a:solidFill>
            </a:endParaRPr>
          </a:p>
          <a:p>
            <a:r>
              <a:rPr lang="en-US" sz="3600" dirty="0">
                <a:solidFill>
                  <a:srgbClr val="00B050"/>
                </a:solidFill>
              </a:rPr>
              <a:t>First version uses tkinter</a:t>
            </a:r>
          </a:p>
          <a:p>
            <a:r>
              <a:rPr lang="en-US" sz="3600" dirty="0">
                <a:solidFill>
                  <a:srgbClr val="00B050"/>
                </a:solidFill>
              </a:rPr>
              <a:t>Second version uses wxPython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DCC79F-3336-222D-207D-DDBE9A5864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19916-CD40-456D-ABE3-55F8822671F7}" type="datetime1">
              <a:rPr lang="en-US" smtClean="0"/>
              <a:t>5/18/2026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9CCD2F-A4CE-60DA-E7BA-37B3D06C1A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raysmith@alum.mit.edu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E7395C-C96B-C82A-58E2-49E4B31B73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7</a:t>
            </a:fld>
            <a:endParaRPr lang="en-US" dirty="0"/>
          </a:p>
        </p:txBody>
      </p:sp>
      <p:pic>
        <p:nvPicPr>
          <p:cNvPr id="1025" name="Picture 1" descr="2">
            <a:extLst>
              <a:ext uri="{FF2B5EF4-FFF2-40B4-BE49-F238E27FC236}">
                <a16:creationId xmlns:a16="http://schemas.microsoft.com/office/drawing/2014/main" id="{E655AFAE-90EF-81F0-845D-A0C543B6A4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3350" cy="219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352099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C2C7C8-77F5-837A-BA66-A37401E5C6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AAED79-6D43-7E75-4D46-E64F5B2A9B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rgbClr val="00B050"/>
                </a:solidFill>
              </a:rPr>
              <a:t>Screen reader support</a:t>
            </a:r>
            <a:br>
              <a:rPr lang="en-US" dirty="0">
                <a:solidFill>
                  <a:srgbClr val="00B050"/>
                </a:solidFill>
              </a:rPr>
            </a:br>
            <a:r>
              <a:rPr lang="en-US" dirty="0">
                <a:solidFill>
                  <a:srgbClr val="00B050"/>
                </a:solidFill>
              </a:rPr>
              <a:t>tkinter </a:t>
            </a:r>
            <a:r>
              <a:rPr lang="en-US" dirty="0">
                <a:solidFill>
                  <a:srgbClr val="00B050"/>
                </a:solidFill>
                <a:sym typeface="Wingdings" panose="05000000000000000000" pitchFamily="2" charset="2"/>
              </a:rPr>
              <a:t> </a:t>
            </a:r>
            <a:r>
              <a:rPr lang="en-US" sz="3600" dirty="0">
                <a:solidFill>
                  <a:srgbClr val="00B050"/>
                </a:solidFill>
              </a:rPr>
              <a:t>wxPython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EF649C-EE64-0078-A6DE-7F566A8C51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113" y="2051051"/>
            <a:ext cx="8916616" cy="3880773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00B050"/>
                </a:solidFill>
              </a:rPr>
              <a:t>Require tkinter</a:t>
            </a:r>
          </a:p>
          <a:p>
            <a:pPr lvl="1"/>
            <a:r>
              <a:rPr lang="en-US" sz="4000" dirty="0">
                <a:solidFill>
                  <a:srgbClr val="00B050"/>
                </a:solidFill>
              </a:rPr>
              <a:t>turtle support</a:t>
            </a:r>
          </a:p>
          <a:p>
            <a:pPr lvl="1"/>
            <a:r>
              <a:rPr lang="en-US" sz="4000" dirty="0">
                <a:solidFill>
                  <a:srgbClr val="00B050"/>
                </a:solidFill>
              </a:rPr>
              <a:t>canvas - display state</a:t>
            </a:r>
          </a:p>
          <a:p>
            <a:r>
              <a:rPr lang="en-US" sz="4000" dirty="0">
                <a:solidFill>
                  <a:srgbClr val="00B050"/>
                </a:solidFill>
              </a:rPr>
              <a:t>Need BOTH wxPython and tkinter</a:t>
            </a:r>
          </a:p>
          <a:p>
            <a:endParaRPr lang="en-US" sz="3600" dirty="0">
              <a:solidFill>
                <a:srgbClr val="00B050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6BD4E6-D958-7F74-D6D0-FBA736377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19916-CD40-456D-ABE3-55F8822671F7}" type="datetime1">
              <a:rPr lang="en-US" smtClean="0"/>
              <a:t>5/18/2026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93D60E-45A0-3FAC-D41D-56350E0A6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raysmith@alum.mit.edu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B27AD5-2062-BA23-7B7E-A1FD69790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8</a:t>
            </a:fld>
            <a:endParaRPr lang="en-US" dirty="0"/>
          </a:p>
        </p:txBody>
      </p:sp>
      <p:pic>
        <p:nvPicPr>
          <p:cNvPr id="1025" name="Picture 1" descr="2">
            <a:extLst>
              <a:ext uri="{FF2B5EF4-FFF2-40B4-BE49-F238E27FC236}">
                <a16:creationId xmlns:a16="http://schemas.microsoft.com/office/drawing/2014/main" id="{86821D5A-11F9-B085-A7A8-920CA4C0BD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3350" cy="219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78473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663C55-8F8E-2924-1A82-A752A7A913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A8AA44-FA58-E428-1EF0-95732BBA4B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600" dirty="0">
                <a:solidFill>
                  <a:srgbClr val="00B050"/>
                </a:solidFill>
              </a:rPr>
              <a:t>Operation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97E5A4-6104-07AE-CB7B-5D1D845403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112" y="2051051"/>
            <a:ext cx="9225899" cy="3880773"/>
          </a:xfrm>
        </p:spPr>
        <p:txBody>
          <a:bodyPr>
            <a:normAutofit/>
          </a:bodyPr>
          <a:lstStyle/>
          <a:p>
            <a:pPr marL="742950" indent="-742950">
              <a:buFont typeface="+mj-lt"/>
              <a:buAutoNum type="arabicPeriod"/>
            </a:pPr>
            <a:r>
              <a:rPr lang="en-US" sz="3600" dirty="0">
                <a:solidFill>
                  <a:srgbClr val="00B050"/>
                </a:solidFill>
              </a:rPr>
              <a:t>Turtle(tk) user program runs</a:t>
            </a:r>
          </a:p>
          <a:p>
            <a:pPr marL="742950" indent="-742950">
              <a:buFont typeface="+mj-lt"/>
              <a:buAutoNum type="arabicPeriod"/>
            </a:pPr>
            <a:r>
              <a:rPr lang="en-US" sz="3600" dirty="0">
                <a:solidFill>
                  <a:srgbClr val="00B050"/>
                </a:solidFill>
              </a:rPr>
              <a:t>Turtle(tk) starts display process(wx)</a:t>
            </a:r>
          </a:p>
          <a:p>
            <a:pPr marL="742950" indent="-742950">
              <a:buFont typeface="+mj-lt"/>
              <a:buAutoNum type="arabicPeriod"/>
            </a:pPr>
            <a:r>
              <a:rPr lang="en-US" sz="3600" dirty="0">
                <a:solidFill>
                  <a:srgbClr val="00B050"/>
                </a:solidFill>
              </a:rPr>
              <a:t>Communication</a:t>
            </a:r>
          </a:p>
          <a:p>
            <a:pPr lvl="1"/>
            <a:r>
              <a:rPr lang="en-US" sz="3400" dirty="0">
                <a:solidFill>
                  <a:srgbClr val="00B050"/>
                </a:solidFill>
              </a:rPr>
              <a:t>wx requests for tk canvas info</a:t>
            </a:r>
          </a:p>
          <a:p>
            <a:pPr lvl="1"/>
            <a:r>
              <a:rPr lang="en-US" sz="3400" dirty="0">
                <a:solidFill>
                  <a:srgbClr val="00B050"/>
                </a:solidFill>
              </a:rPr>
              <a:t>Tk requests display operations</a:t>
            </a:r>
          </a:p>
          <a:p>
            <a:pPr lvl="1"/>
            <a:endParaRPr lang="en-US" sz="3400" dirty="0">
              <a:solidFill>
                <a:srgbClr val="00B050"/>
              </a:solidFill>
            </a:endParaRPr>
          </a:p>
          <a:p>
            <a:endParaRPr lang="en-US" sz="3600" dirty="0">
              <a:solidFill>
                <a:srgbClr val="00B050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8D62AA-AC0A-EE52-14A7-E8EEC19EC6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19916-CD40-456D-ABE3-55F8822671F7}" type="datetime1">
              <a:rPr lang="en-US" smtClean="0"/>
              <a:t>5/18/2026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7059F0-9391-5105-BCFC-FFB14CBFE0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raysmith@alum.mit.edu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3B9760-F224-E563-1A5F-025CEE70F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9</a:t>
            </a:fld>
            <a:endParaRPr lang="en-US" dirty="0"/>
          </a:p>
        </p:txBody>
      </p:sp>
      <p:pic>
        <p:nvPicPr>
          <p:cNvPr id="1025" name="Picture 1" descr="2">
            <a:extLst>
              <a:ext uri="{FF2B5EF4-FFF2-40B4-BE49-F238E27FC236}">
                <a16:creationId xmlns:a16="http://schemas.microsoft.com/office/drawing/2014/main" id="{73EFAFAA-EA23-F7EF-22E2-F7C535AECF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3350" cy="219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590841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87DFEE-86CD-6304-4613-DDF127E3C7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0557E-F0BF-CD8A-C6A8-F53971B79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rgbClr val="00B050"/>
                </a:solidFill>
              </a:rPr>
              <a:t>Display Window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6605B6-3333-20F4-2F00-ABAC5E4271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112" y="2051051"/>
            <a:ext cx="9225899" cy="3880773"/>
          </a:xfrm>
        </p:spPr>
        <p:txBody>
          <a:bodyPr>
            <a:normAutofit/>
          </a:bodyPr>
          <a:lstStyle/>
          <a:p>
            <a:pPr lvl="1"/>
            <a:r>
              <a:rPr lang="en-US" sz="3400" dirty="0">
                <a:solidFill>
                  <a:srgbClr val="00B050"/>
                </a:solidFill>
              </a:rPr>
              <a:t>Text to Speech for spoken feedback</a:t>
            </a:r>
          </a:p>
          <a:p>
            <a:pPr lvl="1"/>
            <a:r>
              <a:rPr lang="en-US" sz="3400" dirty="0">
                <a:solidFill>
                  <a:srgbClr val="00B050"/>
                </a:solidFill>
              </a:rPr>
              <a:t>Tones increase speed over spoken</a:t>
            </a:r>
          </a:p>
          <a:p>
            <a:pPr lvl="1"/>
            <a:r>
              <a:rPr lang="en-US" sz="3400" dirty="0">
                <a:solidFill>
                  <a:srgbClr val="00B050"/>
                </a:solidFill>
              </a:rPr>
              <a:t>Combined text + tone for flexibility</a:t>
            </a:r>
          </a:p>
          <a:p>
            <a:pPr lvl="1"/>
            <a:r>
              <a:rPr lang="en-US" sz="3400" dirty="0">
                <a:solidFill>
                  <a:srgbClr val="00B050"/>
                </a:solidFill>
              </a:rPr>
              <a:t>numpy based signal generation to speed multiple tone delivery</a:t>
            </a:r>
          </a:p>
          <a:p>
            <a:endParaRPr lang="en-US" sz="3600" dirty="0">
              <a:solidFill>
                <a:srgbClr val="00B050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FC3F12-9DD2-E145-1515-01B7D0F216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19916-CD40-456D-ABE3-55F8822671F7}" type="datetime1">
              <a:rPr lang="en-US" smtClean="0"/>
              <a:t>5/18/2026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6ECEFE-70AC-DE30-89BC-3A757F62D5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raysmith@alum.mit.edu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AF9471-5FC3-E6E8-D461-D0A28B46B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10</a:t>
            </a:fld>
            <a:endParaRPr lang="en-US" dirty="0"/>
          </a:p>
        </p:txBody>
      </p:sp>
      <p:pic>
        <p:nvPicPr>
          <p:cNvPr id="1025" name="Picture 1" descr="2">
            <a:extLst>
              <a:ext uri="{FF2B5EF4-FFF2-40B4-BE49-F238E27FC236}">
                <a16:creationId xmlns:a16="http://schemas.microsoft.com/office/drawing/2014/main" id="{1ADC40A7-6198-0E56-6E65-24F12D4518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3350" cy="219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026879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EA4FC1-8C3F-E359-0B57-D19927CBB3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8B7C20-DD65-14D7-E6B0-9E3604F274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rgbClr val="00B050"/>
                </a:solidFill>
              </a:rPr>
              <a:t>Display Window</a:t>
            </a:r>
            <a:r>
              <a:rPr lang="en-US" sz="2400" dirty="0">
                <a:solidFill>
                  <a:srgbClr val="00B050"/>
                </a:solidFill>
              </a:rPr>
              <a:t> continued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A27D29-4B44-F047-7277-CA4F53D985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112" y="2051051"/>
            <a:ext cx="9225899" cy="3880773"/>
          </a:xfrm>
        </p:spPr>
        <p:txBody>
          <a:bodyPr>
            <a:normAutofit/>
          </a:bodyPr>
          <a:lstStyle/>
          <a:p>
            <a:pPr lvl="1"/>
            <a:r>
              <a:rPr lang="en-US" sz="3400" dirty="0">
                <a:solidFill>
                  <a:srgbClr val="00B050"/>
                </a:solidFill>
              </a:rPr>
              <a:t>Support thread safe non-blocking speaker control:</a:t>
            </a:r>
          </a:p>
          <a:p>
            <a:pPr marL="1428750" lvl="2" indent="-514350">
              <a:buFont typeface="+mj-lt"/>
              <a:buAutoNum type="arabicPeriod"/>
            </a:pPr>
            <a:r>
              <a:rPr lang="en-US" sz="3200" dirty="0">
                <a:solidFill>
                  <a:srgbClr val="00B050"/>
                </a:solidFill>
              </a:rPr>
              <a:t>Talk from multiple display windows</a:t>
            </a:r>
          </a:p>
          <a:p>
            <a:pPr marL="1428750" lvl="2" indent="-514350">
              <a:buFont typeface="+mj-lt"/>
              <a:buAutoNum type="arabicPeriod"/>
            </a:pPr>
            <a:r>
              <a:rPr lang="en-US" sz="3200" dirty="0">
                <a:solidFill>
                  <a:srgbClr val="00B050"/>
                </a:solidFill>
              </a:rPr>
              <a:t>wxPython utilities for time control</a:t>
            </a:r>
          </a:p>
          <a:p>
            <a:pPr marL="1428750" lvl="2" indent="-514350">
              <a:buFont typeface="+mj-lt"/>
              <a:buAutoNum type="arabicPeriod"/>
            </a:pPr>
            <a:r>
              <a:rPr lang="en-US" sz="3200" dirty="0">
                <a:solidFill>
                  <a:srgbClr val="00B050"/>
                </a:solidFill>
              </a:rPr>
              <a:t>pyttsx4 for speech to text</a:t>
            </a:r>
          </a:p>
          <a:p>
            <a:pPr lvl="1"/>
            <a:endParaRPr lang="en-US" sz="3400" dirty="0">
              <a:solidFill>
                <a:srgbClr val="00B050"/>
              </a:solidFill>
            </a:endParaRPr>
          </a:p>
          <a:p>
            <a:endParaRPr lang="en-US" sz="3600" dirty="0">
              <a:solidFill>
                <a:srgbClr val="00B050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DE6882-9945-CF34-D7BB-8DBA031BAC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19916-CD40-456D-ABE3-55F8822671F7}" type="datetime1">
              <a:rPr lang="en-US" smtClean="0"/>
              <a:t>5/18/2026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63E51F-BCE3-0AAC-FBF0-172558764E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raysmith@alum.mit.edu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84CC54-E28C-4A6E-4F9A-EF9E92DE08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11</a:t>
            </a:fld>
            <a:endParaRPr lang="en-US" dirty="0"/>
          </a:p>
        </p:txBody>
      </p:sp>
      <p:pic>
        <p:nvPicPr>
          <p:cNvPr id="1025" name="Picture 1" descr="2">
            <a:extLst>
              <a:ext uri="{FF2B5EF4-FFF2-40B4-BE49-F238E27FC236}">
                <a16:creationId xmlns:a16="http://schemas.microsoft.com/office/drawing/2014/main" id="{D31BE60B-E4EF-2098-1663-2D9820D1DF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3350" cy="219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597786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90694-AA7F-451B-A875-1D23D1FDBA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5892" y="2723014"/>
            <a:ext cx="8596668" cy="2289739"/>
          </a:xfrm>
        </p:spPr>
        <p:txBody>
          <a:bodyPr>
            <a:normAutofit/>
          </a:bodyPr>
          <a:lstStyle/>
          <a:p>
            <a:pPr algn="ctr"/>
            <a:r>
              <a:rPr lang="en-US" sz="6600" dirty="0">
                <a:solidFill>
                  <a:srgbClr val="92D050"/>
                </a:solidFill>
              </a:rPr>
              <a:t>Question and Answer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23EE2F-E3E9-437B-AFAE-1E0C5C94A5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7119916-CD40-456D-ABE3-55F8822671F7}" type="datetime1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5/18/2026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4D04EE-5AD0-4A57-A42E-AE62E411AC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raysmith@alum.mit.edu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11C448-36A8-43E6-A891-6E42F22D1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22F896-40B5-4ADD-8801-0D06FADFA095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90C226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90C226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76948935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1711</TotalTime>
  <Words>413</Words>
  <Application>Microsoft Office PowerPoint</Application>
  <PresentationFormat>Widescreen</PresentationFormat>
  <Paragraphs>102</Paragraphs>
  <Slides>12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Calibri</vt:lpstr>
      <vt:lpstr>Courier New</vt:lpstr>
      <vt:lpstr>Trebuchet MS</vt:lpstr>
      <vt:lpstr>Wingdings</vt:lpstr>
      <vt:lpstr>Wingdings 3</vt:lpstr>
      <vt:lpstr>Facet</vt:lpstr>
      <vt:lpstr>Graphics Braille Implementation Overview</vt:lpstr>
      <vt:lpstr>The Goals </vt:lpstr>
      <vt:lpstr>First Implementation</vt:lpstr>
      <vt:lpstr>First Implementation continued…</vt:lpstr>
      <vt:lpstr>A Better Idea</vt:lpstr>
      <vt:lpstr>Implementation continued…</vt:lpstr>
      <vt:lpstr>Braille Display Window</vt:lpstr>
      <vt:lpstr>Screen reader support tkinter  wxPython</vt:lpstr>
      <vt:lpstr>Operation</vt:lpstr>
      <vt:lpstr>Display Window</vt:lpstr>
      <vt:lpstr>Display Window continued</vt:lpstr>
      <vt:lpstr>Question and Answer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it was done</dc:title>
  <dc:creator>Charles Smith</dc:creator>
  <cp:lastModifiedBy>Charles Smith</cp:lastModifiedBy>
  <cp:revision>7</cp:revision>
  <cp:lastPrinted>2026-05-13T20:47:01Z</cp:lastPrinted>
  <dcterms:created xsi:type="dcterms:W3CDTF">2024-04-16T14:17:36Z</dcterms:created>
  <dcterms:modified xsi:type="dcterms:W3CDTF">2026-05-19T13:54:23Z</dcterms:modified>
</cp:coreProperties>
</file>