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1" r:id="rId4"/>
    <p:sldId id="269" r:id="rId5"/>
    <p:sldId id="266" r:id="rId6"/>
    <p:sldId id="267" r:id="rId7"/>
    <p:sldId id="264" r:id="rId8"/>
    <p:sldId id="265" r:id="rId9"/>
    <p:sldId id="259" r:id="rId10"/>
    <p:sldId id="260" r:id="rId11"/>
    <p:sldId id="261" r:id="rId12"/>
    <p:sldId id="262" r:id="rId13"/>
    <p:sldId id="263" r:id="rId14"/>
    <p:sldId id="268" r:id="rId15"/>
    <p:sldId id="272" r:id="rId16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99" autoAdjust="0"/>
    <p:restoredTop sz="86431" autoAdjust="0"/>
  </p:normalViewPr>
  <p:slideViewPr>
    <p:cSldViewPr snapToGrid="0">
      <p:cViewPr varScale="1">
        <p:scale>
          <a:sx n="85" d="100"/>
          <a:sy n="85" d="100"/>
        </p:scale>
        <p:origin x="72" y="6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7D7EE-BBCA-451E-BE89-49D407FBF5F6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FD6C4-167E-4A87-8453-733B0619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5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2B58-B3FF-862E-7CA8-91115CB1E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BB027-4F68-B9E5-21FD-DB2DFE1CB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1D64E-E8D4-CE35-0027-C80B5B2D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79E87-974D-4927-9BEB-8B6D985DDA63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F378C-03C5-F6AB-E7A3-C2B4786A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0ADE4-5C8D-28A3-6295-07C3148C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6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C4AC-1B5F-B6E9-C10E-EB589000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0A33-C472-7AD9-7DF7-2C30C51F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53971-F014-4035-FBB6-A90E0933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460C-5836-4ADF-9461-B09F1AC1A1B5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BAEFA-7DD0-1BC3-A300-4F62C53C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63EA1-5AA1-4099-D38C-A3FAE347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8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6E9F-7B5A-E942-A73D-0E666938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77A6-196F-038F-CFC0-AF1869B93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C47B9-550E-4E74-A7F2-8DFD858D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C6E7-EEA1-4ADE-9EAB-53A679EA2370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EAE0A-8DFB-74DC-20FB-3893D1E1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E9455-C76B-7677-DB04-8C1D0BA8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1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2B08-E5BE-0DD7-727F-7EBA693B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BFE3D-AB5C-9F15-1C74-8461D3D36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59E30-157D-DFE7-2418-89FB8B6B0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D4EE6-55AC-10C6-ADF2-511C76E6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31E1-5AEA-4A8D-A538-30A9EB661F82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36E14-D797-277A-CF77-0ABEC3FC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75C4C-78F8-983E-2335-8FA4F4A6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49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0CDB-2629-F12C-C158-D09C56AD5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9218C-F065-5BF2-3BB5-F16A692C0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137F2-D6CA-1D1D-EE15-B7C45047E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B86DC-55BD-FB88-E807-3A0283846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91DE9-772D-17A1-A31F-B8A1F66E2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10A68F-C779-AE71-E9E3-2787B6787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9511-72AD-4138-9A85-252368712861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F4BB7-FF58-9500-0082-6D5FF48C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B4A22-EBC9-9240-2733-2B12DA8E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39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F80-4F00-ECA4-24AE-EB3D3108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AB877-27EB-E1AB-7BCB-DC66B468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5BF65-BE07-48E1-98E9-670EB6D679DE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BF13C-2F77-9F9B-2DCA-932A9AB5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7E020-13C9-4218-1507-9780F328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80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34A43-CA3B-BE23-93ED-45C13359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835B6-122C-4670-B8DB-F85C17468CF4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6F664-9F46-A5F9-E16A-34CF05CC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1C0C1-EA53-1663-4637-6BBC94BC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3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796-6A3F-5E90-4EE4-DEA217D7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86B6C-5F54-47B7-6E9B-C81CA157E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18B88-901F-BD84-6086-882F8A118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835A1-BE40-55EC-57B2-957C7EA3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AF433-79B5-4DBE-8C75-904CC91D1542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216DE-07A1-D9F8-9FD5-83418570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46BDC-1C10-8D12-B639-E8B1C93B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3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F11A2-3C55-9A2C-A7E3-5686E36B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61181-F3B3-D148-60C1-80D85391F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56B6F-0B85-CD1B-641A-6294A04D8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95B22-94F1-D87F-426C-BE64F306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4431F-0657-4156-9289-303F014E35B6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80357-57BE-31CE-2351-7D434E13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D371-43EE-7FA5-B9C9-9DA8CD99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98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E5E3-4F38-B0A4-60E6-3FB391C5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FAFDC-82FB-8714-B429-7B825E927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3F11A-1C1F-3368-BCB8-05DBC58E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FA7-F859-4114-A8FC-45B7AEC4B403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3154D-4628-15EF-AB09-9EA947CD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CA82A-B9E4-A9CA-D2B9-168B7149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27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13B82-D821-BB92-CBFE-E62AAE6C1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4C73D-B7E7-C8A3-5293-939992185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F0A6-9C08-D09A-087C-798135B14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B620-F9E5-4C87-9663-C97184DD7FB9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B56CD-DAB9-8C1C-4AA5-A3B4E3AA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4EF38-D814-DA3B-ECC9-A8079E6A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B747B-D75B-12F5-DDB5-0AAD8591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CB8E3-A0F1-DC66-18C3-5CF63211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8DCAB-BCDE-734B-8A31-7B35A9CF4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BEE1D-C9EA-4306-BCB8-7EBB18C1A158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075B7-DBCD-98EC-7964-46E4C1E59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What is Computer Programming? Ray Smith January 21,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827CB-6C28-E119-8E7A-348A75778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55B5F-F94E-4080-A917-247199306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7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ABDF-9C98-9628-3BD5-6F5CC14CBD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Computer Programming?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B2E4D-87D5-1FBF-7E76-49FD1D20B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very brief introduction to the art and industry of computer programming</a:t>
            </a:r>
          </a:p>
          <a:p>
            <a:endParaRPr lang="en-US" dirty="0"/>
          </a:p>
          <a:p>
            <a:r>
              <a:rPr lang="en-US" dirty="0"/>
              <a:t>Ray Smith</a:t>
            </a:r>
          </a:p>
        </p:txBody>
      </p:sp>
    </p:spTree>
    <p:extLst>
      <p:ext uri="{BB962C8B-B14F-4D97-AF65-F5344CB8AC3E}">
        <p14:creationId xmlns:p14="http://schemas.microsoft.com/office/powerpoint/2010/main" val="229724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6650-0088-6EA4-1F5B-284BF430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Smith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78D7-8B38-70FA-FE1F-6E0A872AD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dirty="0"/>
              <a:t>Many years of Programming – engineering, scientific, financial</a:t>
            </a:r>
          </a:p>
          <a:p>
            <a:r>
              <a:rPr lang="en-US" sz="2800" dirty="0"/>
              <a:t>Commercial, Scientific, Systems Languages – C, C++, Perl, Java, Python, Assembly</a:t>
            </a:r>
          </a:p>
          <a:p>
            <a:r>
              <a:rPr lang="en-US" sz="2800" dirty="0"/>
              <a:t>NEW Areas - Games for young 3-8 years</a:t>
            </a:r>
          </a:p>
          <a:p>
            <a:r>
              <a:rPr lang="en-US" dirty="0"/>
              <a:t>Programming for the blind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raysmith@alum.mit.edu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BC559-F937-0F68-432F-D0EF0651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66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93C63-70A3-0AA4-86A8-AD636F38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Programming…Why Should I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0CB2-C0FA-2374-BC34-080723BB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A world surrounded by computers</a:t>
            </a:r>
          </a:p>
          <a:p>
            <a:r>
              <a:rPr lang="en-US" sz="4000" dirty="0"/>
              <a:t>Ovens, smart phones, cars, elevators</a:t>
            </a:r>
          </a:p>
          <a:p>
            <a:r>
              <a:rPr lang="en-US" sz="4000" dirty="0"/>
              <a:t>Understanding helps use</a:t>
            </a:r>
          </a:p>
          <a:p>
            <a:endParaRPr lang="en-US" sz="4000" dirty="0"/>
          </a:p>
          <a:p>
            <a:r>
              <a:rPr lang="en-US" sz="4000" dirty="0"/>
              <a:t>Might be fun!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19DB5-268A-A4FA-D33A-5F4E2398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12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4584-30C7-C6AA-08A6-63556EA9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Computer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4285-B8AB-6F43-DEAD-70A4DCFE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Telling a Story</a:t>
            </a:r>
          </a:p>
          <a:p>
            <a:r>
              <a:rPr lang="en-US" sz="4000" dirty="0"/>
              <a:t>Getting the computer to do something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64FDB-6A22-14F6-1DA4-3099EB25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1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99BF-8EB7-9385-1D38-1B2356C4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58FE-991D-7041-44DA-F38C506E0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day computers</a:t>
            </a:r>
          </a:p>
          <a:p>
            <a:pPr lvl="1"/>
            <a:r>
              <a:rPr lang="en-US" sz="2800" dirty="0"/>
              <a:t>Built with</a:t>
            </a:r>
          </a:p>
          <a:p>
            <a:pPr lvl="2"/>
            <a:r>
              <a:rPr lang="en-US" sz="2800" dirty="0"/>
              <a:t>Hardware == a lot of electronics</a:t>
            </a:r>
          </a:p>
          <a:p>
            <a:pPr marL="914400" lvl="2" indent="0">
              <a:buNone/>
            </a:pPr>
            <a:r>
              <a:rPr lang="en-US" sz="2800" dirty="0"/>
              <a:t>	plus</a:t>
            </a:r>
          </a:p>
          <a:p>
            <a:pPr lvl="2"/>
            <a:r>
              <a:rPr lang="en-US" sz="2800" dirty="0"/>
              <a:t>Software == lots and lots of instructions</a:t>
            </a:r>
          </a:p>
          <a:p>
            <a:pPr marL="914400" lvl="2" indent="0">
              <a:buNone/>
            </a:pPr>
            <a:r>
              <a:rPr lang="en-US" sz="2800" dirty="0"/>
              <a:t> 	to direct the hardware</a:t>
            </a:r>
          </a:p>
          <a:p>
            <a:pPr lvl="1"/>
            <a:r>
              <a:rPr lang="en-US" sz="2800" dirty="0"/>
              <a:t>Act like</a:t>
            </a:r>
          </a:p>
          <a:p>
            <a:pPr lvl="2"/>
            <a:r>
              <a:rPr lang="en-US" sz="2400" dirty="0"/>
              <a:t>A VERY Obedient servant</a:t>
            </a:r>
          </a:p>
          <a:p>
            <a:pPr lvl="2"/>
            <a:r>
              <a:rPr lang="en-US" sz="2400" dirty="0"/>
              <a:t>Does EXACTLY what you ask</a:t>
            </a:r>
          </a:p>
          <a:p>
            <a:pPr lvl="2"/>
            <a:r>
              <a:rPr lang="en-US" sz="2400" dirty="0"/>
              <a:t>Hopefully, what you want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F42F5-8A19-A54A-BAF9-C00CD4BA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66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0E81-562D-E924-7162-49312B8F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on Hardware and Software</a:t>
            </a:r>
            <a:br>
              <a:rPr lang="en-US" dirty="0"/>
            </a:br>
            <a:r>
              <a:rPr lang="en-US" dirty="0"/>
              <a:t>A simple view – like food preparation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0A5F-A467-59AF-A746-53DF8500C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Hardware is the physical like bowls, ovens, food</a:t>
            </a:r>
          </a:p>
          <a:p>
            <a:r>
              <a:rPr lang="en-US" sz="3200" dirty="0"/>
              <a:t>Software is the instructions, directions, or recipes</a:t>
            </a:r>
          </a:p>
          <a:p>
            <a:r>
              <a:rPr lang="en-US" sz="3200" dirty="0"/>
              <a:t>Instructions may be basic like peal the banana</a:t>
            </a:r>
          </a:p>
          <a:p>
            <a:r>
              <a:rPr lang="en-US" sz="3200" dirty="0"/>
              <a:t>Instructions may use other instructions like bake the cake</a:t>
            </a:r>
          </a:p>
          <a:p>
            <a:r>
              <a:rPr lang="en-US" sz="3200" dirty="0"/>
              <a:t>Instructions  may use multiple utensils, bowls, …</a:t>
            </a:r>
          </a:p>
          <a:p>
            <a:pPr lvl="1"/>
            <a:r>
              <a:rPr lang="en-US" sz="2800" dirty="0"/>
              <a:t>Fill the cup, pour cup into pan, heat pan till boiling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B66EC-0C49-6F18-BD30-E8CC51B3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94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9DC6-8DB5-C760-1470-BD03D2E3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Story is Told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E0B6C-07D2-F0FE-7082-014A85C6F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Use a Programming Language</a:t>
            </a:r>
          </a:p>
          <a:p>
            <a:pPr lvl="1"/>
            <a:r>
              <a:rPr lang="en-US" sz="3600" dirty="0"/>
              <a:t>Small set of words and punctuation</a:t>
            </a:r>
          </a:p>
          <a:p>
            <a:pPr lvl="1"/>
            <a:r>
              <a:rPr lang="en-US" sz="3600" dirty="0"/>
              <a:t>Small set of rules</a:t>
            </a:r>
          </a:p>
          <a:p>
            <a:pPr lvl="1"/>
            <a:r>
              <a:rPr lang="en-US" sz="3600" dirty="0"/>
              <a:t>Why a new language?  Why not English?</a:t>
            </a:r>
          </a:p>
          <a:p>
            <a:r>
              <a:rPr lang="en-US" sz="3600" dirty="0"/>
              <a:t>English language</a:t>
            </a:r>
          </a:p>
          <a:p>
            <a:pPr lvl="1"/>
            <a:r>
              <a:rPr lang="en-US" sz="3600" dirty="0"/>
              <a:t>Too big</a:t>
            </a:r>
          </a:p>
          <a:p>
            <a:pPr lvl="1"/>
            <a:r>
              <a:rPr lang="en-US" sz="3600" dirty="0"/>
              <a:t>Harder to be precise</a:t>
            </a:r>
          </a:p>
          <a:p>
            <a:pPr lvl="1"/>
            <a:r>
              <a:rPr lang="en-US" sz="3600" dirty="0"/>
              <a:t>Harder to understand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35737-2DC5-9F25-0C53-948854DFE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80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3905-25BC-066F-DEF6-39BBDA55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Story </a:t>
            </a:r>
            <a:r>
              <a:rPr lang="en-US" sz="3200" dirty="0"/>
              <a:t>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4E990-2B0B-5017-A867-6C52D5F20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 the Programming Language to…</a:t>
            </a:r>
          </a:p>
          <a:p>
            <a:pPr lvl="2"/>
            <a:r>
              <a:rPr lang="en-US" sz="3600" dirty="0"/>
              <a:t>Organize the story </a:t>
            </a: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sz="3600" dirty="0"/>
              <a:t> Computer program</a:t>
            </a:r>
          </a:p>
          <a:p>
            <a:pPr lvl="2"/>
            <a:r>
              <a:rPr lang="en-US" sz="3600" dirty="0"/>
              <a:t>Account for ALL choices / situations</a:t>
            </a:r>
          </a:p>
          <a:p>
            <a:r>
              <a:rPr lang="en-US" sz="3600" dirty="0"/>
              <a:t>Use a program like Python to</a:t>
            </a:r>
          </a:p>
          <a:p>
            <a:pPr lvl="2"/>
            <a:r>
              <a:rPr lang="en-US" sz="3600" dirty="0"/>
              <a:t>Interpret the story</a:t>
            </a:r>
          </a:p>
          <a:p>
            <a:pPr lvl="2"/>
            <a:r>
              <a:rPr lang="en-US" sz="3600" dirty="0"/>
              <a:t>Provide desired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88F66-8A2F-F41A-0818-B92CBA89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793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A71B-5F25-B8E5-2800-52DBBF68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55DBE-98E5-C637-D352-C9FB916EE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Path to goal like a</a:t>
            </a:r>
            <a:r>
              <a:rPr lang="en-US" sz="3200" dirty="0">
                <a:sym typeface="Wingdings" panose="05000000000000000000" pitchFamily="2" charset="2"/>
              </a:rPr>
              <a:t> map or recipe or assembly instructions</a:t>
            </a:r>
          </a:p>
          <a:p>
            <a:pPr lvl="1"/>
            <a:r>
              <a:rPr lang="en-US" sz="3200" dirty="0">
                <a:sym typeface="Wingdings" panose="05000000000000000000" pitchFamily="2" charset="2"/>
              </a:rPr>
              <a:t>Part types (physical view)</a:t>
            </a:r>
          </a:p>
          <a:p>
            <a:pPr lvl="2"/>
            <a:r>
              <a:rPr lang="en-US" sz="3200" dirty="0">
                <a:sym typeface="Wingdings" panose="05000000000000000000" pitchFamily="2" charset="2"/>
              </a:rPr>
              <a:t>Test – choose next action</a:t>
            </a:r>
          </a:p>
          <a:p>
            <a:pPr lvl="2"/>
            <a:r>
              <a:rPr lang="en-US" sz="3200" dirty="0">
                <a:sym typeface="Wingdings" panose="05000000000000000000" pitchFamily="2" charset="2"/>
              </a:rPr>
              <a:t>Fork – left  or right</a:t>
            </a:r>
          </a:p>
          <a:p>
            <a:pPr lvl="2"/>
            <a:r>
              <a:rPr lang="en-US" sz="3200" dirty="0">
                <a:sym typeface="Wingdings" panose="05000000000000000000" pitchFamily="2" charset="2"/>
              </a:rPr>
              <a:t>Loop – repetition</a:t>
            </a:r>
          </a:p>
          <a:p>
            <a:pPr lvl="2"/>
            <a:r>
              <a:rPr lang="en-US" sz="3200" dirty="0">
                <a:sym typeface="Wingdings" panose="05000000000000000000" pitchFamily="2" charset="2"/>
              </a:rPr>
              <a:t>Output – show result like printing, talking,…</a:t>
            </a:r>
          </a:p>
          <a:p>
            <a:pPr lvl="1"/>
            <a:r>
              <a:rPr lang="en-US" sz="3200" dirty="0">
                <a:sym typeface="Wingdings" panose="05000000000000000000" pitchFamily="2" charset="2"/>
              </a:rPr>
              <a:t>Small programs build bigger programs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 	which build bigger programs,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62E57-7C62-4C9F-1317-B3C698CE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46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AE73-FE0D-6753-D52A-7B9F4955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931A7-3F82-2824-2E88-FFB911AD3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Like regular language, but:</a:t>
            </a:r>
          </a:p>
          <a:p>
            <a:pPr lvl="1"/>
            <a:r>
              <a:rPr lang="en-US" sz="3200" dirty="0"/>
              <a:t>Smaller</a:t>
            </a:r>
          </a:p>
          <a:p>
            <a:pPr lvl="2"/>
            <a:r>
              <a:rPr lang="en-US" sz="3200" dirty="0"/>
              <a:t>Fewer words and punctuation</a:t>
            </a:r>
          </a:p>
          <a:p>
            <a:pPr lvl="1"/>
            <a:r>
              <a:rPr lang="en-US" sz="3200" dirty="0"/>
              <a:t>Precise / Exact</a:t>
            </a:r>
          </a:p>
          <a:p>
            <a:r>
              <a:rPr lang="en-US" sz="3200" dirty="0"/>
              <a:t>Not the whole story</a:t>
            </a:r>
          </a:p>
          <a:p>
            <a:pPr lvl="1"/>
            <a:r>
              <a:rPr lang="en-US" sz="3200" dirty="0"/>
              <a:t>There are tools to help</a:t>
            </a:r>
          </a:p>
          <a:p>
            <a:pPr marL="914400" lvl="2" indent="0">
              <a:buNone/>
            </a:pPr>
            <a:r>
              <a:rPr lang="en-US" sz="3200" dirty="0"/>
              <a:t>  create, analyze, and execute programs</a:t>
            </a:r>
          </a:p>
          <a:p>
            <a:r>
              <a:rPr lang="en-US" sz="3200" dirty="0"/>
              <a:t>Many languages, Python is just one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EB5BE-E1C2-98A7-F368-18D19375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861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1DCC-7275-0C2B-C89F-7AA2DE3A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Language Parts  - Short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85ED6-F9A1-E076-74C0-FB486A429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/>
              <a:t>#</a:t>
            </a:r>
            <a:r>
              <a:rPr lang="en-US" sz="3200" dirty="0"/>
              <a:t> … </a:t>
            </a:r>
            <a:r>
              <a:rPr lang="en-US" sz="3200" dirty="0">
                <a:sym typeface="Wingdings" panose="05000000000000000000" pitchFamily="2" charset="2"/>
              </a:rPr>
              <a:t>- comments 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Don’t do anything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Show purpose, goals, concerns</a:t>
            </a:r>
            <a:endParaRPr lang="en-US" sz="2800" dirty="0"/>
          </a:p>
          <a:p>
            <a:r>
              <a:rPr lang="en-US" sz="3200" b="1" dirty="0"/>
              <a:t>if</a:t>
            </a:r>
            <a:r>
              <a:rPr lang="en-US" sz="3200" dirty="0"/>
              <a:t>, </a:t>
            </a:r>
            <a:r>
              <a:rPr lang="en-US" sz="3200" b="1" dirty="0"/>
              <a:t>else</a:t>
            </a:r>
            <a:r>
              <a:rPr lang="en-US" sz="3200" dirty="0"/>
              <a:t> </a:t>
            </a:r>
            <a:r>
              <a:rPr lang="en-US" sz="3200" dirty="0">
                <a:sym typeface="Wingdings" panose="05000000000000000000" pitchFamily="2" charset="2"/>
              </a:rPr>
              <a:t>--</a:t>
            </a:r>
            <a:r>
              <a:rPr lang="en-US" sz="3200" dirty="0"/>
              <a:t> decisions– fork in the path</a:t>
            </a:r>
          </a:p>
          <a:p>
            <a:r>
              <a:rPr lang="en-US" sz="3200" b="1" dirty="0"/>
              <a:t>while</a:t>
            </a:r>
            <a:r>
              <a:rPr lang="en-US" sz="3200" dirty="0"/>
              <a:t>, </a:t>
            </a:r>
            <a:r>
              <a:rPr lang="en-US" sz="3200" b="1" dirty="0"/>
              <a:t>for</a:t>
            </a:r>
            <a:r>
              <a:rPr lang="en-US" sz="3200" dirty="0"/>
              <a:t> </a:t>
            </a:r>
            <a:r>
              <a:rPr lang="en-US" sz="3200" dirty="0">
                <a:sym typeface="Wingdings" panose="05000000000000000000" pitchFamily="2" charset="2"/>
              </a:rPr>
              <a:t>--</a:t>
            </a:r>
            <a:r>
              <a:rPr lang="en-US" sz="3200" dirty="0"/>
              <a:t> looping / repeating</a:t>
            </a:r>
          </a:p>
          <a:p>
            <a:r>
              <a:rPr lang="en-US" sz="3200" b="1" dirty="0"/>
              <a:t>=</a:t>
            </a:r>
            <a:r>
              <a:rPr lang="en-US" sz="3200" dirty="0"/>
              <a:t> - assignment </a:t>
            </a:r>
            <a:r>
              <a:rPr lang="en-US" sz="3200" dirty="0">
                <a:sym typeface="Wingdings" panose="05000000000000000000" pitchFamily="2" charset="2"/>
              </a:rPr>
              <a:t>--</a:t>
            </a:r>
            <a:r>
              <a:rPr lang="en-US" sz="3200" dirty="0"/>
              <a:t> storing stuff – like math</a:t>
            </a:r>
          </a:p>
          <a:p>
            <a:r>
              <a:rPr lang="en-US" sz="3200" b="1" dirty="0"/>
              <a:t>+, -, *, / </a:t>
            </a:r>
            <a:r>
              <a:rPr lang="en-US" sz="3200" dirty="0"/>
              <a:t>-- computation - like math</a:t>
            </a:r>
          </a:p>
          <a:p>
            <a:r>
              <a:rPr lang="en-US" sz="3200" b="1" dirty="0"/>
              <a:t>&lt;</a:t>
            </a:r>
            <a:r>
              <a:rPr lang="en-US" sz="3200" dirty="0"/>
              <a:t>, </a:t>
            </a:r>
            <a:r>
              <a:rPr lang="en-US" sz="3200" b="1" dirty="0"/>
              <a:t>&gt;</a:t>
            </a:r>
            <a:r>
              <a:rPr lang="en-US" sz="3200" dirty="0"/>
              <a:t>,  </a:t>
            </a:r>
            <a:r>
              <a:rPr lang="en-US" sz="3200" b="1" dirty="0"/>
              <a:t>==</a:t>
            </a:r>
            <a:r>
              <a:rPr lang="en-US" sz="3200" dirty="0"/>
              <a:t>, </a:t>
            </a:r>
            <a:r>
              <a:rPr lang="en-US" sz="3200" b="1" dirty="0"/>
              <a:t>!=</a:t>
            </a:r>
            <a:r>
              <a:rPr lang="en-US" sz="3200" dirty="0"/>
              <a:t>  </a:t>
            </a:r>
            <a:r>
              <a:rPr lang="en-US" sz="3200" dirty="0">
                <a:sym typeface="Wingdings" panose="05000000000000000000" pitchFamily="2" charset="2"/>
              </a:rPr>
              <a:t>-- comparison – like math</a:t>
            </a:r>
          </a:p>
          <a:p>
            <a:r>
              <a:rPr lang="en-US" sz="3200" b="1" dirty="0">
                <a:sym typeface="Wingdings" panose="05000000000000000000" pitchFamily="2" charset="2"/>
              </a:rPr>
              <a:t>print(</a:t>
            </a:r>
            <a:r>
              <a:rPr lang="en-US" sz="3200" i="1" dirty="0">
                <a:sym typeface="Wingdings" panose="05000000000000000000" pitchFamily="2" charset="2"/>
              </a:rPr>
              <a:t>things to be printed</a:t>
            </a:r>
            <a:r>
              <a:rPr lang="en-US" sz="3200" b="1" dirty="0">
                <a:sym typeface="Wingdings" panose="05000000000000000000" pitchFamily="2" charset="2"/>
              </a:rPr>
              <a:t>) -- </a:t>
            </a:r>
            <a:r>
              <a:rPr lang="en-US" sz="3200" dirty="0">
                <a:sym typeface="Wingdings" panose="05000000000000000000" pitchFamily="2" charset="2"/>
              </a:rPr>
              <a:t>print things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A6B9A-6FB8-24BF-55A4-270E4728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5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3B8E-30D9-AA39-AEC9-30048FB5B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Python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270BF-012B-88AF-CF96-F71F446A6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712"/>
            <a:ext cx="10515600" cy="5251784"/>
          </a:xfrm>
        </p:spPr>
        <p:txBody>
          <a:bodyPr>
            <a:normAutofit fontScale="55000" lnSpcReduction="20000"/>
          </a:bodyPr>
          <a:lstStyle/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#heads_tails.py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Simple demonstration of coin flipping program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random </a:t>
            </a:r>
            <a:r>
              <a:rPr lang="en-US" sz="4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randint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max_flip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4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dirty="0">
                <a:solidFill>
                  <a:srgbClr val="1F377F"/>
                </a:solidFill>
                <a:latin typeface="Consolas" panose="020B0609020204030204" pitchFamily="49" charset="0"/>
              </a:rPr>
              <a:t>f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lip_no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4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flip_no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max_flip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flip_no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flip_no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4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coin_num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4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4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0-heads, 1-tails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coin_num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4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4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4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heads</a:t>
            </a:r>
            <a:r>
              <a:rPr lang="en-US" sz="4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4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4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tails</a:t>
            </a:r>
            <a:r>
              <a:rPr lang="en-US" sz="4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4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742950" indent="-74295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</a:t>
            </a:r>
            <a:r>
              <a:rPr lang="en-US" sz="4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C5AD9-7A0C-9471-64BE-0B375BA6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7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92AE-0980-28F3-C48A-DD25DC2E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49D5-FFB2-3959-5A49-FD3DF4584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$ py heads_tails.py  # runs python program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heads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heads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heads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A226E-65DD-50AA-5102-91C619C5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69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AEA3-3148-57A8-16A4-F63C18ED3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output – second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F77B-7693-1761-7FED-3100FD52B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$ py heads_tails.py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heads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heads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heads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tails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heads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9719F-B27D-4556-F49E-C9363471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3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E41A-3DFB-2BBB-5490-9254EE7F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/>
              <a:t>Shorter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1271B-C59E-20BB-1BB6-9502E907B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51268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#heads_tails_short.py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Short version of heads_tails.py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random </a:t>
            </a:r>
            <a:r>
              <a:rPr lang="en-US" sz="2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randint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coin_num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0-heads, 1-tails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coin_num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heads</a:t>
            </a:r>
            <a:r>
              <a:rPr lang="en-US" sz="2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tails</a:t>
            </a:r>
            <a:r>
              <a:rPr lang="en-US" sz="2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ts val="1425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730EC-FA70-67BA-F3E1-C701CFC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5B5F-F94E-4080-A917-2471993060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96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6386</TotalTime>
  <Words>684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Lucida Console</vt:lpstr>
      <vt:lpstr>Wingdings</vt:lpstr>
      <vt:lpstr>Office Theme</vt:lpstr>
      <vt:lpstr>What is Computer Programming?</vt:lpstr>
      <vt:lpstr>Ray Smith </vt:lpstr>
      <vt:lpstr>Programming…Why Should I Care?</vt:lpstr>
      <vt:lpstr>Computer Programming</vt:lpstr>
      <vt:lpstr>What is a Computer</vt:lpstr>
      <vt:lpstr>More on Hardware and Software A simple view – like food preparation </vt:lpstr>
      <vt:lpstr>How the Story is Told</vt:lpstr>
      <vt:lpstr>The Story continued</vt:lpstr>
      <vt:lpstr>Program Structure</vt:lpstr>
      <vt:lpstr>More on Programming Languages</vt:lpstr>
      <vt:lpstr>Python Language Parts  - Short Sample</vt:lpstr>
      <vt:lpstr>Example Python Program</vt:lpstr>
      <vt:lpstr>Program output</vt:lpstr>
      <vt:lpstr>Program output – second run</vt:lpstr>
      <vt:lpstr>Shorter 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Smith</dc:creator>
  <cp:lastModifiedBy>Charles Smith</cp:lastModifiedBy>
  <cp:revision>13</cp:revision>
  <cp:lastPrinted>2025-02-04T22:45:16Z</cp:lastPrinted>
  <dcterms:created xsi:type="dcterms:W3CDTF">2025-01-16T23:59:35Z</dcterms:created>
  <dcterms:modified xsi:type="dcterms:W3CDTF">2025-02-04T22:47:03Z</dcterms:modified>
</cp:coreProperties>
</file>