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411" r:id="rId2"/>
    <p:sldId id="425" r:id="rId3"/>
    <p:sldId id="413" r:id="rId4"/>
    <p:sldId id="412" r:id="rId5"/>
    <p:sldId id="414" r:id="rId6"/>
    <p:sldId id="415" r:id="rId7"/>
    <p:sldId id="416" r:id="rId8"/>
    <p:sldId id="417" r:id="rId9"/>
    <p:sldId id="424" r:id="rId10"/>
    <p:sldId id="418" r:id="rId11"/>
    <p:sldId id="419" r:id="rId12"/>
    <p:sldId id="428" r:id="rId13"/>
    <p:sldId id="427" r:id="rId14"/>
    <p:sldId id="429" r:id="rId15"/>
    <p:sldId id="420" r:id="rId16"/>
    <p:sldId id="421" r:id="rId17"/>
    <p:sldId id="422" r:id="rId18"/>
    <p:sldId id="423" r:id="rId19"/>
    <p:sldId id="426" r:id="rId20"/>
    <p:sldId id="442" r:id="rId21"/>
    <p:sldId id="403" r:id="rId22"/>
    <p:sldId id="430" r:id="rId23"/>
    <p:sldId id="431" r:id="rId24"/>
    <p:sldId id="433" r:id="rId25"/>
    <p:sldId id="434" r:id="rId26"/>
    <p:sldId id="439" r:id="rId27"/>
    <p:sldId id="445" r:id="rId28"/>
    <p:sldId id="440" r:id="rId29"/>
    <p:sldId id="444" r:id="rId30"/>
    <p:sldId id="44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6" autoAdjust="0"/>
    <p:restoredTop sz="94639" autoAdjust="0"/>
  </p:normalViewPr>
  <p:slideViewPr>
    <p:cSldViewPr snapToGrid="0">
      <p:cViewPr varScale="1">
        <p:scale>
          <a:sx n="88" d="100"/>
          <a:sy n="88" d="100"/>
        </p:scale>
        <p:origin x="88" y="5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D2E9F-587F-4929-A615-D1B22C008AE4}" type="datetimeFigureOut">
              <a:rPr lang="en-US" smtClean="0"/>
              <a:t>9/11/2024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D4E80-AAF7-4841-B2F0-A647B649A6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08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995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0850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6221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741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2969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Compromises: Lower resolution, Few colors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9583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451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346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files to Desktop\braille_2023\</a:t>
            </a:r>
          </a:p>
          <a:p>
            <a:r>
              <a:rPr lang="en-US" dirty="0"/>
              <a:t>Simplest graphics square.py, square_loop.py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D4E80-AAF7-4841-B2F0-A647B649A6D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70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Commas added to keep blank area from being compressed</a:t>
            </a:r>
          </a:p>
          <a:p>
            <a:r>
              <a:rPr lang="en-US" dirty="0"/>
              <a:t>Figure moved to left and up to reduce effort to find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D4E80-AAF7-4841-B2F0-A647B649A6D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253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Started as a guide to the implementor</a:t>
            </a:r>
          </a:p>
          <a:p>
            <a:r>
              <a:rPr lang="en-US" dirty="0"/>
              <a:t>Became an audio based 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D4E80-AAF7-4841-B2F0-A647B649A6D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454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762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709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008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F5501-EE91-4443-9D3B-24E6F28D34E2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70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837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13D6-B8C2-463B-B3F7-C62E098B328E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99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63420-31EE-4E4B-911C-2601B14D9FDD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99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986D-86F8-41E6-8CFF-8C91AEF92622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4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85161-032E-4C6A-8EDA-39D168DF18E4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605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E6740-E523-48D9-9C4E-6F218E87BAF3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39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1D4CA-FF09-4CB8-8D51-2613D19A0F2E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09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79EA-AEA7-43B3-9B65-A77E9A890421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79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E1E9-8456-43AD-BA28-861520D256B9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84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1E0C-AAFD-4E63-B3AE-16CD757951F4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8882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84FF-4715-4B6E-BD22-453621E5873F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135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7F8D-4DF5-4AB6-A766-5A84B3D74A3B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6616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3CD1A-162D-40B2-9B22-9056F77C27F2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57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4200-B1E5-4E39-8279-05DD69810A3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86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895-00AC-42E5-9790-7B0E3CE09DF2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8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A67F1-3EA0-4026-BE6A-31EE4E1B1DB5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01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ysmith619/TurtleBraille" TargetMode="External"/><Relationship Id="rId2" Type="http://schemas.openxmlformats.org/officeDocument/2006/relationships/hyperlink" Target="https://github.com/raysmith619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3079805"/>
          </a:xfrm>
          <a:noFill/>
        </p:spPr>
        <p:txBody>
          <a:bodyPr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60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Introducing Graphics</a:t>
            </a:r>
            <a:br>
              <a:rPr lang="en-US" sz="60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the Blind</a:t>
            </a:r>
            <a:br>
              <a:rPr lang="en-US" sz="60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Pixel at a Time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405023"/>
            <a:ext cx="8596668" cy="163633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34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6544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Goals</a:t>
            </a:r>
          </a:p>
          <a:p>
            <a:pPr lvl="1"/>
            <a:r>
              <a:rPr lang="en-US" sz="3400" i="1" dirty="0"/>
              <a:t>Demonstrate tool</a:t>
            </a:r>
          </a:p>
          <a:p>
            <a:pPr lvl="1"/>
            <a:r>
              <a:rPr lang="en-US" sz="3400" i="1" dirty="0"/>
              <a:t>Graphics Insight</a:t>
            </a:r>
          </a:p>
          <a:p>
            <a:pPr lvl="1"/>
            <a:r>
              <a:rPr lang="en-US" sz="3400" i="1" dirty="0"/>
              <a:t>Raise Awareness</a:t>
            </a:r>
          </a:p>
          <a:p>
            <a:pPr lvl="1"/>
            <a:endParaRPr lang="en-US" sz="34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252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4000" i="1" dirty="0"/>
              <a:t>I'm a programmer / teacher</a:t>
            </a:r>
          </a:p>
          <a:p>
            <a:pPr lvl="1"/>
            <a:r>
              <a:rPr lang="en-US" sz="4000" i="1" dirty="0"/>
              <a:t>Graphics / Pictures are powerful</a:t>
            </a:r>
          </a:p>
          <a:p>
            <a:pPr lvl="1"/>
            <a:r>
              <a:rPr lang="en-US" sz="4000" i="1" dirty="0"/>
              <a:t>Blind have limited graphics access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35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600" i="1" dirty="0"/>
              <a:t>Little access to graphical presentations</a:t>
            </a:r>
          </a:p>
          <a:p>
            <a:pPr lvl="2"/>
            <a:r>
              <a:rPr lang="en-US" sz="3400" i="1" dirty="0"/>
              <a:t>Tools e.g. Braille embossers are expensive – not at everyone's desk</a:t>
            </a:r>
          </a:p>
          <a:p>
            <a:pPr lvl="2"/>
            <a:r>
              <a:rPr lang="en-US" sz="3400" i="1" dirty="0"/>
              <a:t>Access - slow/cumbersome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510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The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4000" i="1" dirty="0"/>
              <a:t>Initial goal: Help beginners learn Programming</a:t>
            </a:r>
          </a:p>
          <a:p>
            <a:pPr lvl="1"/>
            <a:r>
              <a:rPr lang="en-US" sz="4000" i="1" dirty="0"/>
              <a:t>Extended goal: Graphics for Visually Impaired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5291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Tool Benefits Provided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4000" i="1" dirty="0"/>
              <a:t>Braille rendition of simple graphics output</a:t>
            </a:r>
          </a:p>
          <a:p>
            <a:pPr lvl="1"/>
            <a:r>
              <a:rPr lang="en-US" sz="4000" i="1" dirty="0"/>
              <a:t>Graphics output with audio feedback</a:t>
            </a:r>
          </a:p>
          <a:p>
            <a:pPr lvl="1"/>
            <a:endParaRPr lang="en-US" sz="4000" i="1" dirty="0"/>
          </a:p>
          <a:p>
            <a:pPr marL="457200" lvl="1" indent="0">
              <a:buNone/>
            </a:pPr>
            <a:endParaRPr lang="en-US" sz="4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2134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Non-programming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4000" i="1" dirty="0"/>
              <a:t>Python program</a:t>
            </a:r>
          </a:p>
          <a:p>
            <a:pPr lvl="2"/>
            <a:r>
              <a:rPr lang="en-US" sz="3800" i="1" dirty="0"/>
              <a:t>a wordy nerdy "</a:t>
            </a:r>
            <a:r>
              <a:rPr lang="en-US" sz="3800" i="1" dirty="0">
                <a:solidFill>
                  <a:schemeClr val="accent1"/>
                </a:solidFill>
              </a:rPr>
              <a:t>Etch A Sketch</a:t>
            </a:r>
            <a:r>
              <a:rPr lang="en-US" sz="3800" i="1" dirty="0"/>
              <a:t>" drawing tool</a:t>
            </a:r>
          </a:p>
          <a:p>
            <a:pPr lvl="2"/>
            <a:r>
              <a:rPr lang="en-US" sz="3800" i="1" dirty="0"/>
              <a:t>Drawing Instructions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512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Draw a square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57" y="1407381"/>
            <a:ext cx="9835763" cy="4633981"/>
          </a:xfrm>
        </p:spPr>
        <p:txBody>
          <a:bodyPr>
            <a:normAutofit fontScale="77500" lnSpcReduction="20000"/>
          </a:bodyPr>
          <a:lstStyle/>
          <a:p>
            <a:pPr marL="457200" lvl="1" indent="0">
              <a:buNone/>
            </a:pPr>
            <a:r>
              <a:rPr lang="en-US" sz="4000" i="1" dirty="0">
                <a:latin typeface="Courier New" panose="02070309020205020404" pitchFamily="49" charset="0"/>
                <a:cs typeface="Courier New" panose="02070309020205020404" pitchFamily="49" charset="0"/>
              </a:rPr>
              <a:t># square_loop.py</a:t>
            </a:r>
          </a:p>
          <a:p>
            <a:pPr marL="457200" lvl="1" indent="0">
              <a:buNone/>
            </a:pPr>
            <a:r>
              <a:rPr lang="en-US" sz="4000" i="1" dirty="0">
                <a:latin typeface="Courier New" panose="02070309020205020404" pitchFamily="49" charset="0"/>
                <a:cs typeface="Courier New" panose="02070309020205020404" pitchFamily="49" charset="0"/>
              </a:rPr>
              <a:t># Display a square</a:t>
            </a:r>
          </a:p>
          <a:p>
            <a:pPr marL="457200" lvl="1" indent="0">
              <a:buNone/>
            </a:pPr>
            <a:r>
              <a:rPr lang="en-US" sz="4000" i="1" dirty="0">
                <a:latin typeface="Courier New" panose="02070309020205020404" pitchFamily="49" charset="0"/>
                <a:cs typeface="Courier New" panose="02070309020205020404" pitchFamily="49" charset="0"/>
              </a:rPr>
              <a:t>from turtle_braille import * # </a:t>
            </a:r>
            <a:r>
              <a:rPr lang="en-US" sz="2900" i="1" dirty="0">
                <a:latin typeface="Courier New" panose="02070309020205020404" pitchFamily="49" charset="0"/>
                <a:cs typeface="Courier New" panose="02070309020205020404" pitchFamily="49" charset="0"/>
              </a:rPr>
              <a:t>graphics</a:t>
            </a:r>
          </a:p>
          <a:p>
            <a:pPr marL="457200" lvl="1" indent="0">
              <a:buNone/>
            </a:pPr>
            <a:endParaRPr lang="en-US" sz="4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4000" i="1" dirty="0">
                <a:latin typeface="Courier New" panose="02070309020205020404" pitchFamily="49" charset="0"/>
                <a:cs typeface="Courier New" panose="02070309020205020404" pitchFamily="49" charset="0"/>
              </a:rPr>
              <a:t>color("green")</a:t>
            </a:r>
          </a:p>
          <a:p>
            <a:pPr marL="457200" lvl="1" indent="0">
              <a:buNone/>
            </a:pPr>
            <a:r>
              <a:rPr lang="en-US" sz="4000" i="1" dirty="0">
                <a:latin typeface="Courier New" panose="02070309020205020404" pitchFamily="49" charset="0"/>
                <a:cs typeface="Courier New" panose="02070309020205020404" pitchFamily="49" charset="0"/>
              </a:rPr>
              <a:t>for i in range(4):  # Do 4 times</a:t>
            </a:r>
          </a:p>
          <a:p>
            <a:pPr marL="457200" lvl="1" indent="0">
              <a:buNone/>
            </a:pPr>
            <a:r>
              <a:rPr lang="en-US" sz="40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forward(200)</a:t>
            </a:r>
          </a:p>
          <a:p>
            <a:pPr marL="457200" lvl="1" indent="0">
              <a:buNone/>
            </a:pPr>
            <a:r>
              <a:rPr lang="en-US" sz="40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right(90)</a:t>
            </a:r>
          </a:p>
          <a:p>
            <a:pPr marL="457200" lvl="1" indent="0">
              <a:buNone/>
            </a:pPr>
            <a:r>
              <a:rPr lang="en-US" sz="4000" i="1" dirty="0">
                <a:latin typeface="Courier New" panose="02070309020205020404" pitchFamily="49" charset="0"/>
                <a:cs typeface="Courier New" panose="02070309020205020404" pitchFamily="49" charset="0"/>
              </a:rPr>
              <a:t>done()		    # Complete drawing</a:t>
            </a:r>
          </a:p>
          <a:p>
            <a:pPr marL="457200" lvl="1" indent="0">
              <a:buNone/>
            </a:pPr>
            <a:endParaRPr lang="en-US" sz="4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150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3EE02-B153-C542-E232-A6A2C8645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Demo – Hopefully Live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99A9-3DB4-D3CE-BC4F-B39AA4A88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Following slides are reminders</a:t>
            </a:r>
          </a:p>
          <a:p>
            <a:pPr lvl="1"/>
            <a:r>
              <a:rPr lang="en-US" sz="3400" dirty="0"/>
              <a:t>offline viewing</a:t>
            </a:r>
          </a:p>
          <a:p>
            <a:pPr lvl="1"/>
            <a:r>
              <a:rPr lang="en-US" sz="3400" dirty="0"/>
              <a:t>If computer problems</a:t>
            </a:r>
          </a:p>
          <a:p>
            <a:r>
              <a:rPr lang="en-US" sz="3600" dirty="0"/>
              <a:t>Demo V/I usage…</a:t>
            </a:r>
          </a:p>
          <a:p>
            <a:pPr marL="457200" lvl="1" indent="0">
              <a:buNone/>
            </a:pPr>
            <a:r>
              <a:rPr lang="en-US" sz="3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cmd&gt;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cd Desktop\...\01_intro</a:t>
            </a:r>
          </a:p>
          <a:p>
            <a:pPr marL="457200" lvl="1" indent="0">
              <a:buNone/>
            </a:pPr>
            <a:r>
              <a:rPr lang="en-US" sz="3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cmd&gt;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python square_loop.py</a:t>
            </a:r>
          </a:p>
          <a:p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E1906-2E6B-9099-3D08-8463B414F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2DD91-9F70-8D13-B15B-52E638841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4F1DC-D685-1FD4-6949-809ECE957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928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3A4E-F16B-EA79-5B13-E9A4FF68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turtle graphical output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DE496-13D9-1842-3FA3-4BA241CA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64794-899A-6AA3-482D-A65536BC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AE74-CBEA-82D2-3DA2-56AF7339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289762F-9E75-5F5A-8C81-51BC327309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2705" y="1399430"/>
            <a:ext cx="5349561" cy="4642595"/>
          </a:xfrm>
        </p:spPr>
      </p:pic>
    </p:spTree>
    <p:extLst>
      <p:ext uri="{BB962C8B-B14F-4D97-AF65-F5344CB8AC3E}">
        <p14:creationId xmlns:p14="http://schemas.microsoft.com/office/powerpoint/2010/main" val="1432343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DD31-DFE4-531C-9AC2-9E43B6DB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13945"/>
          </a:xfrm>
        </p:spPr>
        <p:txBody>
          <a:bodyPr/>
          <a:lstStyle/>
          <a:p>
            <a:r>
              <a:rPr lang="en-US" dirty="0"/>
              <a:t>Text output – send  to Braille embosser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48362-6E44-7494-163C-3DA3DD6B0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0261"/>
            <a:ext cx="8596668" cy="45083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,,gggggggggggg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,,,g,,,,,,,,gg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,,,g,,,,,,,,gg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,,,g,,,,,,,,gg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,,,g,,,,,,,,gg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,,,g,,,,,,,,gg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,,gggggggggggg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CFB7D-3600-5E75-1A79-97F525CDB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A2737-4636-4ECC-29AA-33510D43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88104-97B6-3D88-8357-50AF1CC1D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367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Braille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accent1"/>
                </a:solidFill>
              </a:rPr>
              <a:t>Spaces to commas</a:t>
            </a:r>
          </a:p>
          <a:p>
            <a:pPr lvl="1"/>
            <a:r>
              <a:rPr lang="en-US" sz="2800" dirty="0">
                <a:solidFill>
                  <a:schemeClr val="accent1"/>
                </a:solidFill>
              </a:rPr>
              <a:t>Braille machine compresses spaces</a:t>
            </a:r>
          </a:p>
          <a:p>
            <a:pPr lvl="1"/>
            <a:r>
              <a:rPr lang="en-US" sz="2800" dirty="0">
                <a:solidFill>
                  <a:schemeClr val="accent1"/>
                </a:solidFill>
              </a:rPr>
              <a:t>Comma Braille:</a:t>
            </a:r>
          </a:p>
          <a:p>
            <a:r>
              <a:rPr lang="en-US" sz="4400" dirty="0">
                <a:solidFill>
                  <a:schemeClr val="accent1"/>
                </a:solidFill>
              </a:rPr>
              <a:t>Moving figure up to left</a:t>
            </a:r>
          </a:p>
          <a:p>
            <a:pPr lvl="1"/>
            <a:r>
              <a:rPr lang="en-US" sz="3200" dirty="0">
                <a:solidFill>
                  <a:schemeClr val="accent1"/>
                </a:solidFill>
              </a:rPr>
              <a:t>Facilitate finding figure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pic>
        <p:nvPicPr>
          <p:cNvPr id="1027" name="Picture 3" descr="2">
            <a:extLst>
              <a:ext uri="{FF2B5EF4-FFF2-40B4-BE49-F238E27FC236}">
                <a16:creationId xmlns:a16="http://schemas.microsoft.com/office/drawing/2014/main" id="{7260E3A1-A157-2903-3FAA-D0B0DAD94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140" y="3244015"/>
            <a:ext cx="829587" cy="747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560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170C0-E196-AC4F-63AD-114D4391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Braille usage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5FD6D-57CE-4440-1B6A-D98496F81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Copy text</a:t>
            </a:r>
          </a:p>
          <a:p>
            <a:r>
              <a:rPr lang="en-US" sz="4000" dirty="0">
                <a:solidFill>
                  <a:schemeClr val="accent1"/>
                </a:solidFill>
              </a:rPr>
              <a:t>Transmit Braille machine</a:t>
            </a:r>
          </a:p>
          <a:p>
            <a:r>
              <a:rPr lang="en-US" sz="4000" dirty="0">
                <a:solidFill>
                  <a:schemeClr val="accent1"/>
                </a:solidFill>
              </a:rPr>
              <a:t>Retrieve Braille</a:t>
            </a:r>
          </a:p>
          <a:p>
            <a:r>
              <a:rPr lang="en-US" sz="4000" dirty="0">
                <a:solidFill>
                  <a:schemeClr val="accent1"/>
                </a:solidFill>
              </a:rPr>
              <a:t>Slows viewing </a:t>
            </a:r>
            <a:r>
              <a:rPr lang="en-US" sz="4000" dirty="0">
                <a:solidFill>
                  <a:schemeClr val="accent1"/>
                </a:solidFill>
                <a:sym typeface="Wingdings" panose="05000000000000000000" pitchFamily="2" charset="2"/>
              </a:rPr>
              <a:t> reduces impact</a:t>
            </a:r>
            <a:endParaRPr lang="en-US" sz="4000" dirty="0">
              <a:solidFill>
                <a:schemeClr val="accent1"/>
              </a:solidFill>
            </a:endParaRPr>
          </a:p>
          <a:p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9C378-DEEF-913F-A2E9-B49F0F4D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AF76C-F0C9-D37C-4906-0916A7BF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D9DB7-EA9D-EC92-F3D9-074B87DA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5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170C0-E196-AC4F-63AD-114D4391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Hope: </a:t>
            </a:r>
            <a:r>
              <a:rPr lang="en-US" dirty="0"/>
              <a:t>quick change and quick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5FD6D-57CE-4440-1B6A-D98496F81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0B0F0"/>
                </a:solidFill>
              </a:rPr>
              <a:t>square_loop.py</a:t>
            </a:r>
          </a:p>
          <a:p>
            <a:r>
              <a:rPr lang="en-US" sz="4000" dirty="0">
                <a:solidFill>
                  <a:srgbClr val="00B0F0"/>
                </a:solidFill>
              </a:rPr>
              <a:t>square_loop_w40.py – </a:t>
            </a:r>
            <a:r>
              <a:rPr lang="en-US" sz="4000" dirty="0">
                <a:solidFill>
                  <a:schemeClr val="tx1"/>
                </a:solidFill>
              </a:rPr>
              <a:t>thicken lines</a:t>
            </a:r>
          </a:p>
          <a:p>
            <a:r>
              <a:rPr lang="en-US" sz="4000">
                <a:solidFill>
                  <a:srgbClr val="00B0F0"/>
                </a:solidFill>
              </a:rPr>
              <a:t>square</a:t>
            </a:r>
            <a:r>
              <a:rPr lang="en-US" sz="4000" dirty="0">
                <a:solidFill>
                  <a:srgbClr val="00B0F0"/>
                </a:solidFill>
              </a:rPr>
              <a:t>_loop_colors.py – </a:t>
            </a:r>
            <a:r>
              <a:rPr lang="en-US" sz="4000" dirty="0">
                <a:solidFill>
                  <a:schemeClr val="tx1"/>
                </a:solidFill>
              </a:rPr>
              <a:t>add colors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9C378-DEEF-913F-A2E9-B49F0F4D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AF76C-F0C9-D37C-4906-0916A7BF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D9DB7-EA9D-EC92-F3D9-074B87DA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966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BBC6-583F-C6E8-818A-8FC7C80A7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Braille Display Window</a:t>
            </a:r>
            <a:br>
              <a:rPr lang="en-US" dirty="0"/>
            </a:br>
            <a:r>
              <a:rPr lang="en-US" dirty="0"/>
              <a:t> with Audio Feedback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CDF78-4F52-47FB-612E-C5D3EFCC5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7F9B8-F751-0AAB-9710-F8D644BC1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70B61-F9D2-C14B-55D6-AF3B8CDB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22EBE67-7406-226E-ECB3-B4A4055365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91653" y="1930400"/>
            <a:ext cx="3655134" cy="3881437"/>
          </a:xfr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3C8C651-B016-D1F4-78C0-1CABDB209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21" y="2154045"/>
            <a:ext cx="5009341" cy="425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71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0470-B88E-9501-6E3A-3D890DBC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Spokes – A More elaborate figure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2FA5153-5002-56CE-F6CF-B6B0281BB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0257" y="2160588"/>
            <a:ext cx="3621285" cy="388143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A6463-CAFB-0686-BF0E-B547E558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87D30-9780-7DD2-14C3-BEE9ACD15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AED9C-F886-8E3F-6217-21206A777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89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7FA7-B676-FED3-104A-8515B4D5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Spokes text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16830-CCDC-F8D4-4807-603E86E9D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08599"/>
            <a:ext cx="7642074" cy="48327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,,,,,,,,,,,,,iii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,,,,,,,,,,,,iiiiii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,,,,,,,,,,,,iiiiii,,,,,,,,vvv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,,,,,,,,,,,,iiiii,,,,,,,vvvvvv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,,,,,,,,,,,,,,,i,,,,,,,,vvvvvv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,,,bbb,,,,,,,,,ii,,,,,,,,vvvvv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,,bbbbb,,,,,,,,,i,,,,,,vvv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,,bbbbbb,,,,,,,,i,,,,,vv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,,bbbbbbbb,,,,,,ii,,,vv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,,,,,,,,,,bbbb,,,i,,v,,,,,,,,,,,rr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,,,,,,,,,,,,,bbbbivv,,,,,,,,,,rrrrrr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,,,,,,,,,,,,,,,,bvvrrrrrrrrrrrrrrrrr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,,,,,,,,,,,,,ggg,yoo,,,,,,,,,,rrrrrr</a:t>
            </a:r>
          </a:p>
          <a:p>
            <a:pPr marL="0" indent="0">
              <a:buNone/>
            </a:pPr>
            <a:r>
              <a:rPr lang="en-US" sz="2000" dirty="0"/>
              <a:t>… Omitted for brevity 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7A8E9-4467-276A-F813-4BD4FD62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CFD0C-E57A-688E-A5C4-F5C6A0BE1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E60D3-1302-41FC-E73E-CAD5942EC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094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B6925-B90A-634A-E1D7-CD2701EA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Spokes – Braille Display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996DB-5173-1C9D-2436-8D1E9EB88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BD315-05D7-BEE0-E937-A25AF0F43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4501D-FE2E-F89E-93B0-6F86DBCC6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1AAC55E-09AA-843E-C744-1419B2B52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0987" y="2160588"/>
            <a:ext cx="3710064" cy="3881437"/>
          </a:xfrm>
        </p:spPr>
      </p:pic>
    </p:spTree>
    <p:extLst>
      <p:ext uri="{BB962C8B-B14F-4D97-AF65-F5344CB8AC3E}">
        <p14:creationId xmlns:p14="http://schemas.microsoft.com/office/powerpoint/2010/main" val="2222478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1D87C-2817-85BE-2881-092A6E900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Drawing Tool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371A8-104F-7028-99B8-33E50517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CF26B-077B-2727-8353-8318B55D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A4525-8002-2F6A-5706-318DD5E2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CBE95D3-FD39-CE77-B319-8BA659E32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592" y="1299369"/>
            <a:ext cx="3704821" cy="3881437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1004199-1CF6-9736-165B-6C091B157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86648"/>
              </p:ext>
            </p:extLst>
          </p:nvPr>
        </p:nvGraphicFramePr>
        <p:xfrm>
          <a:off x="5068891" y="2663688"/>
          <a:ext cx="3208417" cy="3545713"/>
        </p:xfrm>
        <a:graphic>
          <a:graphicData uri="http://schemas.openxmlformats.org/drawingml/2006/table">
            <a:tbl>
              <a:tblPr/>
              <a:tblGrid>
                <a:gridCol w="3208417">
                  <a:extLst>
                    <a:ext uri="{9D8B030D-6E8A-4147-A177-3AD203B41FA5}">
                      <a16:colId xmlns:a16="http://schemas.microsoft.com/office/drawing/2014/main" val="839088774"/>
                    </a:ext>
                  </a:extLst>
                </a:gridCol>
              </a:tblGrid>
              <a:tr h="34382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,,g,,,b,,,,v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,,g,,,b,,,,v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,,g,,,b,,,,v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,,rrrro,,,,v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,,g,,,o,,,,v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,,g,,,o,,,,v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,,g,,,o,,,,v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597730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70DD60AC-A66C-B42D-4183-C9E937DB5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153" y="2339024"/>
            <a:ext cx="2708694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Braille Text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502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</a:rPr>
              <a:t>Future Possibilities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Navigational Improvements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Speedups – async audio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Stereo audio feedback, distance, direction, feedback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More intelligent/automatic scanning</a:t>
            </a:r>
          </a:p>
          <a:p>
            <a:r>
              <a:rPr lang="en-US" sz="2800" dirty="0">
                <a:solidFill>
                  <a:schemeClr val="tx1"/>
                </a:solidFill>
              </a:rPr>
              <a:t>Presentation Improvements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Real-time scaling region </a:t>
            </a:r>
            <a:r>
              <a:rPr lang="en-US" sz="2800" dirty="0" err="1">
                <a:solidFill>
                  <a:schemeClr val="tx1"/>
                </a:solidFill>
              </a:rPr>
              <a:t>maginification</a:t>
            </a:r>
            <a:r>
              <a:rPr lang="en-US" sz="2800" dirty="0">
                <a:solidFill>
                  <a:schemeClr val="tx1"/>
                </a:solidFill>
              </a:rPr>
              <a:t> / selection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7817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892" y="2723014"/>
            <a:ext cx="8596668" cy="2289739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Tool </a:t>
            </a:r>
            <a:br>
              <a:rPr lang="en-US" sz="6600" dirty="0"/>
            </a:br>
            <a:r>
              <a:rPr lang="en-US" sz="6600" dirty="0">
                <a:solidFill>
                  <a:schemeClr val="tx1"/>
                </a:solidFill>
              </a:rPr>
              <a:t>Question and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011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892" y="2723015"/>
            <a:ext cx="8596668" cy="1320800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tx1"/>
                </a:solidFill>
              </a:rPr>
              <a:t>How it was done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23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Look Inside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The Plan</a:t>
            </a:r>
          </a:p>
          <a:p>
            <a:pPr lvl="1"/>
            <a:r>
              <a:rPr lang="en-US" sz="3000" dirty="0">
                <a:solidFill>
                  <a:schemeClr val="tx1"/>
                </a:solidFill>
              </a:rPr>
              <a:t>Braille rendition of </a:t>
            </a:r>
            <a:r>
              <a:rPr lang="en-US" sz="3000" i="1" dirty="0">
                <a:solidFill>
                  <a:schemeClr val="tx1"/>
                </a:solidFill>
              </a:rPr>
              <a:t>simple</a:t>
            </a:r>
            <a:r>
              <a:rPr lang="en-US" sz="3000" dirty="0">
                <a:solidFill>
                  <a:schemeClr val="tx1"/>
                </a:solidFill>
              </a:rPr>
              <a:t> Turtle graphics</a:t>
            </a:r>
          </a:p>
          <a:p>
            <a:pPr lvl="1"/>
            <a:r>
              <a:rPr lang="en-US" sz="3000" dirty="0">
                <a:solidFill>
                  <a:schemeClr val="tx1"/>
                </a:solidFill>
              </a:rPr>
              <a:t>A text picture to send to the embosser</a:t>
            </a:r>
          </a:p>
          <a:p>
            <a:pPr lvl="1"/>
            <a:r>
              <a:rPr lang="en-US" sz="3000" dirty="0">
                <a:solidFill>
                  <a:schemeClr val="tx1"/>
                </a:solidFill>
              </a:rPr>
              <a:t>Coarse – 40 characters by 25 lines</a:t>
            </a:r>
          </a:p>
          <a:p>
            <a:pPr lvl="1"/>
            <a:r>
              <a:rPr lang="en-US" sz="3000" dirty="0">
                <a:solidFill>
                  <a:schemeClr val="tx1"/>
                </a:solidFill>
              </a:rPr>
              <a:t>One color letter per square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479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The Plan continued…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for Turtle function </a:t>
            </a:r>
            <a:r>
              <a:rPr lang="en-US" sz="3200" b="1" dirty="0">
                <a:solidFill>
                  <a:schemeClr val="tx1"/>
                </a:solidFill>
              </a:rPr>
              <a:t>done</a:t>
            </a:r>
            <a:r>
              <a:rPr lang="en-US" sz="3200" dirty="0">
                <a:solidFill>
                  <a:schemeClr val="tx1"/>
                </a:solidFill>
              </a:rPr>
              <a:t> or </a:t>
            </a:r>
            <a:r>
              <a:rPr lang="en-US" sz="3200" b="1" dirty="0">
                <a:solidFill>
                  <a:schemeClr val="tx1"/>
                </a:solidFill>
              </a:rPr>
              <a:t>mainloop</a:t>
            </a:r>
          </a:p>
          <a:p>
            <a:pPr lvl="1"/>
            <a:r>
              <a:rPr lang="en-US" sz="3000" dirty="0">
                <a:solidFill>
                  <a:schemeClr val="tx1"/>
                </a:solidFill>
              </a:rPr>
              <a:t>If print braille:</a:t>
            </a:r>
          </a:p>
          <a:p>
            <a:pPr lvl="2"/>
            <a:r>
              <a:rPr lang="en-US" sz="2800" dirty="0">
                <a:solidFill>
                  <a:schemeClr val="tx1"/>
                </a:solidFill>
              </a:rPr>
              <a:t>Generate text picture from display cells</a:t>
            </a: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If braille window:</a:t>
            </a:r>
          </a:p>
          <a:p>
            <a:pPr lvl="2"/>
            <a:r>
              <a:rPr lang="en-US" sz="2800" dirty="0">
                <a:solidFill>
                  <a:schemeClr val="tx1"/>
                </a:solidFill>
              </a:rPr>
              <a:t>Create Braille Window Display</a:t>
            </a:r>
          </a:p>
          <a:p>
            <a:pPr lvl="2"/>
            <a:r>
              <a:rPr lang="en-US" sz="2800" dirty="0">
                <a:solidFill>
                  <a:schemeClr val="tx1"/>
                </a:solidFill>
              </a:rPr>
              <a:t>Populate with Braille Cells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313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Braille Display, with Audio Feedback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Initially only a diagnostic aid</a:t>
            </a:r>
          </a:p>
          <a:p>
            <a:r>
              <a:rPr lang="en-US" sz="2800" dirty="0">
                <a:solidFill>
                  <a:schemeClr val="tx1"/>
                </a:solidFill>
              </a:rPr>
              <a:t>Python module tkinter - Canvas, Menu</a:t>
            </a:r>
          </a:p>
          <a:p>
            <a:r>
              <a:rPr lang="en-US" sz="2800" dirty="0">
                <a:solidFill>
                  <a:schemeClr val="tx1"/>
                </a:solidFill>
              </a:rPr>
              <a:t>Display cells created during drawing phase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Dictionary by (cell-x-index, cell-y-index)</a:t>
            </a:r>
          </a:p>
          <a:p>
            <a:pPr lvl="1"/>
            <a:r>
              <a:rPr lang="en-US" sz="2600" dirty="0">
                <a:solidFill>
                  <a:schemeClr val="tx1"/>
                </a:solidFill>
              </a:rPr>
              <a:t>Much energy changing  between coordinates:</a:t>
            </a:r>
          </a:p>
          <a:p>
            <a:pPr marL="914400" lvl="2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 canvas – turtle – cell-indices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2099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</a:rPr>
              <a:t>Strategy for Display Cells</a:t>
            </a:r>
            <a:br>
              <a:rPr lang="en-US" sz="3600" dirty="0">
                <a:solidFill>
                  <a:schemeClr val="accent1"/>
                </a:solidFill>
              </a:rPr>
            </a:br>
            <a:r>
              <a:rPr lang="en-US" sz="3600" dirty="0">
                <a:solidFill>
                  <a:schemeClr val="accent1"/>
                </a:solidFill>
              </a:rPr>
              <a:t>Not first try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Let most Turtle calls go through unchanged</a:t>
            </a:r>
          </a:p>
          <a:p>
            <a:r>
              <a:rPr lang="en-US" sz="3200" dirty="0">
                <a:solidFill>
                  <a:schemeClr val="tx1"/>
                </a:solidFill>
              </a:rPr>
              <a:t>Scan created Tkinter Canvas</a:t>
            </a:r>
          </a:p>
          <a:p>
            <a:r>
              <a:rPr lang="en-US" sz="3200" dirty="0">
                <a:solidFill>
                  <a:schemeClr val="tx1"/>
                </a:solidFill>
              </a:rPr>
              <a:t>Divide up canvas into display regions (40x25)</a:t>
            </a:r>
          </a:p>
          <a:p>
            <a:r>
              <a:rPr lang="en-US" sz="3200" dirty="0">
                <a:solidFill>
                  <a:schemeClr val="tx1"/>
                </a:solidFill>
              </a:rPr>
              <a:t>For each region find overlapping Canvas items</a:t>
            </a:r>
          </a:p>
          <a:p>
            <a:r>
              <a:rPr lang="en-US" sz="3200" dirty="0">
                <a:solidFill>
                  <a:schemeClr val="tx1"/>
                </a:solidFill>
              </a:rPr>
              <a:t>Where found – create a display cell</a:t>
            </a:r>
          </a:p>
          <a:p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217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Strategy continued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Benefits:</a:t>
            </a:r>
          </a:p>
          <a:p>
            <a:pPr lvl="1"/>
            <a:r>
              <a:rPr lang="en-US" sz="3600" dirty="0">
                <a:solidFill>
                  <a:schemeClr val="tx1"/>
                </a:solidFill>
              </a:rPr>
              <a:t>Uses tkinter powerful scanning</a:t>
            </a:r>
          </a:p>
          <a:p>
            <a:pPr lvl="1"/>
            <a:r>
              <a:rPr lang="en-US" sz="3600" dirty="0">
                <a:solidFill>
                  <a:schemeClr val="tx1"/>
                </a:solidFill>
              </a:rPr>
              <a:t>Applicable to non-turtle tkinter programs</a:t>
            </a:r>
          </a:p>
          <a:p>
            <a:pPr lvl="1"/>
            <a:r>
              <a:rPr lang="en-US" sz="3600" dirty="0">
                <a:solidFill>
                  <a:schemeClr val="tx1"/>
                </a:solidFill>
              </a:rPr>
              <a:t>Facilitates scale changes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298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Change display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tkinter – not screen reader friendly</a:t>
            </a:r>
          </a:p>
          <a:p>
            <a:r>
              <a:rPr lang="en-US" sz="3600" dirty="0">
                <a:solidFill>
                  <a:schemeClr val="tx1"/>
                </a:solidFill>
              </a:rPr>
              <a:t>wxPython is screen reader friendly</a:t>
            </a:r>
          </a:p>
          <a:p>
            <a:r>
              <a:rPr lang="en-US" sz="3600" dirty="0">
                <a:solidFill>
                  <a:schemeClr val="tx1"/>
                </a:solidFill>
              </a:rPr>
              <a:t>Turtle (using tkinter) still useful</a:t>
            </a:r>
          </a:p>
          <a:p>
            <a:r>
              <a:rPr lang="en-US" sz="3600" dirty="0">
                <a:solidFill>
                  <a:schemeClr val="tx1"/>
                </a:solidFill>
              </a:rPr>
              <a:t>Use two processes</a:t>
            </a:r>
          </a:p>
          <a:p>
            <a:pPr lvl="1"/>
            <a:r>
              <a:rPr lang="en-US" sz="3400" dirty="0">
                <a:solidFill>
                  <a:schemeClr val="tx1"/>
                </a:solidFill>
              </a:rPr>
              <a:t>Need communication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28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782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Source 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GitHub Project </a:t>
            </a:r>
            <a:r>
              <a:rPr lang="en-US" sz="2800" dirty="0">
                <a:solidFill>
                  <a:srgbClr val="00B0F0"/>
                </a:solidFill>
              </a:rPr>
              <a:t>github.com/raysmith619/resource_lib</a:t>
            </a:r>
          </a:p>
          <a:p>
            <a:pPr marL="457200" lvl="1" indent="0">
              <a:buNone/>
            </a:pPr>
            <a:r>
              <a:rPr lang="en-US" sz="3400" dirty="0">
                <a:solidFill>
                  <a:srgbClr val="00B0F0"/>
                </a:solidFill>
              </a:rPr>
              <a:t>src/ </a:t>
            </a:r>
            <a:r>
              <a:rPr lang="en-US" sz="3400" dirty="0">
                <a:solidFill>
                  <a:schemeClr val="tx1"/>
                </a:solidFill>
              </a:rPr>
              <a:t>– source files (Python)</a:t>
            </a:r>
          </a:p>
          <a:p>
            <a:pPr marL="457200" lvl="1" indent="0">
              <a:buNone/>
            </a:pPr>
            <a:r>
              <a:rPr lang="en-US" sz="3400" dirty="0">
                <a:solidFill>
                  <a:srgbClr val="00B0F0"/>
                </a:solidFill>
              </a:rPr>
              <a:t>README.md </a:t>
            </a:r>
            <a:r>
              <a:rPr lang="en-US" sz="3400" dirty="0">
                <a:solidFill>
                  <a:schemeClr val="tx1"/>
                </a:solidFill>
              </a:rPr>
              <a:t>– Short description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Alternate direction, with discussion</a:t>
            </a:r>
          </a:p>
          <a:p>
            <a:pPr marL="0" indent="0">
              <a:buNone/>
            </a:pPr>
            <a:r>
              <a:rPr lang="en-US" sz="2400" b="0" i="0" u="sng" dirty="0">
                <a:solidFill>
                  <a:srgbClr val="00B0F0"/>
                </a:solidFill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raysmith619</a:t>
            </a:r>
            <a:r>
              <a:rPr lang="en-US" sz="2400" b="0" i="0" dirty="0">
                <a:solidFill>
                  <a:srgbClr val="00B0F0"/>
                </a:solidFill>
                <a:effectLst/>
                <a:latin typeface="-apple-system"/>
              </a:rPr>
              <a:t>/</a:t>
            </a:r>
            <a:r>
              <a:rPr lang="en-US" sz="2400" b="1" i="0" u="none" strike="noStrike" dirty="0">
                <a:solidFill>
                  <a:srgbClr val="00B0F0"/>
                </a:solidFill>
                <a:effectLst/>
                <a:latin typeface="-apple-syste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TurtleBraille</a:t>
            </a:r>
            <a:br>
              <a:rPr lang="en-US" sz="3600" dirty="0"/>
            </a:b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29</a:t>
            </a:fld>
            <a:endParaRPr lang="en-US" dirty="0"/>
          </a:p>
        </p:txBody>
      </p:sp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353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892" y="2723014"/>
            <a:ext cx="8596668" cy="2289739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Implementation</a:t>
            </a:r>
            <a:r>
              <a:rPr lang="en-US" sz="6600" dirty="0">
                <a:solidFill>
                  <a:schemeClr val="tx1"/>
                </a:solidFill>
              </a:rPr>
              <a:t> </a:t>
            </a:r>
            <a:br>
              <a:rPr lang="en-US" sz="6600" dirty="0">
                <a:solidFill>
                  <a:schemeClr val="tx1"/>
                </a:solidFill>
              </a:rPr>
            </a:br>
            <a:r>
              <a:rPr lang="en-US" sz="6600" dirty="0">
                <a:solidFill>
                  <a:schemeClr val="tx1"/>
                </a:solidFill>
              </a:rPr>
              <a:t>Question and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9/11/2024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69489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8687</TotalTime>
  <Words>1191</Words>
  <Application>Microsoft Office PowerPoint</Application>
  <PresentationFormat>Widescreen</PresentationFormat>
  <Paragraphs>290</Paragraphs>
  <Slides>30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-apple-system</vt:lpstr>
      <vt:lpstr>Arial</vt:lpstr>
      <vt:lpstr>Calibri</vt:lpstr>
      <vt:lpstr>Calibri Light</vt:lpstr>
      <vt:lpstr>Courier New</vt:lpstr>
      <vt:lpstr>Trebuchet MS</vt:lpstr>
      <vt:lpstr>Wingdings</vt:lpstr>
      <vt:lpstr>Wingdings 3</vt:lpstr>
      <vt:lpstr>Facet</vt:lpstr>
      <vt:lpstr>Introducing Graphics  to the Blind One Pixel at a Time</vt:lpstr>
      <vt:lpstr>Introduction</vt:lpstr>
      <vt:lpstr>Background</vt:lpstr>
      <vt:lpstr>Problems</vt:lpstr>
      <vt:lpstr>The Tool</vt:lpstr>
      <vt:lpstr>Tool Benefits Provided</vt:lpstr>
      <vt:lpstr>Non-programming view</vt:lpstr>
      <vt:lpstr>Draw a square</vt:lpstr>
      <vt:lpstr>A Demo – Hopefully Live</vt:lpstr>
      <vt:lpstr>Standard turtle graphical output</vt:lpstr>
      <vt:lpstr>Text output – send  to Braille embosser</vt:lpstr>
      <vt:lpstr>Changes to Braille text</vt:lpstr>
      <vt:lpstr>Braille usage steps</vt:lpstr>
      <vt:lpstr>Hope: quick change and quick view</vt:lpstr>
      <vt:lpstr>Braille Display Window  with Audio Feedback</vt:lpstr>
      <vt:lpstr>Spokes – A More elaborate figure</vt:lpstr>
      <vt:lpstr>Spokes text output</vt:lpstr>
      <vt:lpstr>Spokes – Braille Display</vt:lpstr>
      <vt:lpstr>A Drawing Tool</vt:lpstr>
      <vt:lpstr>Future Possibilities</vt:lpstr>
      <vt:lpstr>Tool  Question and Answer</vt:lpstr>
      <vt:lpstr>How it was done</vt:lpstr>
      <vt:lpstr>A Look Inside</vt:lpstr>
      <vt:lpstr>The Plan continued…</vt:lpstr>
      <vt:lpstr>Braille Display, with Audio Feedback</vt:lpstr>
      <vt:lpstr>Strategy for Display Cells Not first try</vt:lpstr>
      <vt:lpstr>Strategy continued</vt:lpstr>
      <vt:lpstr>Change display</vt:lpstr>
      <vt:lpstr>Source Code</vt:lpstr>
      <vt:lpstr>Implementation  Question and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#5   Files</dc:title>
  <dc:creator>Charles Smith</dc:creator>
  <cp:lastModifiedBy>Charles Smith</cp:lastModifiedBy>
  <cp:revision>34</cp:revision>
  <dcterms:created xsi:type="dcterms:W3CDTF">2021-08-10T18:56:35Z</dcterms:created>
  <dcterms:modified xsi:type="dcterms:W3CDTF">2024-09-11T18:20:59Z</dcterms:modified>
</cp:coreProperties>
</file>